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9" r:id="rId3"/>
    <p:sldId id="256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7132"/>
    <a:srgbClr val="156082"/>
    <a:srgbClr val="0424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5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9997C-0483-4DFD-F2B2-B1E5350D76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DF7C4F-97DE-D803-B602-CF21AB748C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587FE-6045-2CB0-95C6-3757C0DC6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CDE60-9FCE-4A5F-A00B-1E551C8543A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327342-2967-6F41-D76B-E050BCCD8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381E36-A774-266E-6118-41AC053EE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65D63-0117-4237-AF3C-F5932C8D4D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103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D96BE-BF00-37B0-D42B-E2F019D985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4E16F9-1056-D950-C69E-9FBF6B8800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766C81-E755-C824-604E-8E8DD6F98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CDE60-9FCE-4A5F-A00B-1E551C8543A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FD362-855A-1B30-2726-D0DE3DD6E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4DF96-9F1E-20D1-1754-3A9E0A6F8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65D63-0117-4237-AF3C-F5932C8D4D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2352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79822-6D73-86FF-C107-9EF54D8FA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FBCAD8-854D-AAC2-5C96-0D06DDE7EF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3ED8B3-F397-E10D-C502-9E85440BA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CDE60-9FCE-4A5F-A00B-1E551C8543A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6874D5-1C98-6B1C-E514-CEEED4C40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D82E2B-E3E1-E72A-72FA-EFB919393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65D63-0117-4237-AF3C-F5932C8D4D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46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5FD41-09ED-3065-D1F6-1C4BD7740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DA417D-8A10-90FC-4712-B1FD195F79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0752CC-B038-A81C-B220-7BECC6A522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DA47ED-B707-769F-C3B2-359C434A6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CDE60-9FCE-4A5F-A00B-1E551C8543A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B607D5-5F35-4C24-8C3B-F58A4B97F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0A7C6E-27A0-BE1B-2569-47D9638BB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65D63-0117-4237-AF3C-F5932C8D4D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3584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81F3A-0CAB-F8F1-B5F3-1C4201CBF9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94B82E-CC29-A9B6-3C86-35B9798736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4C0DD4-BCB9-D9EA-984B-4628BC1F89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A0CDBB-8BB0-4BEE-6C17-66BD22502C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1F5682-8F38-BF7D-5321-651D5C1EC53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260B53-4A98-6649-27FD-4DE8CEDE4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CDE60-9FCE-4A5F-A00B-1E551C8543A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60D88CA-FAA9-6F5A-7A14-198294ADF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F02635B-E2E2-E688-37E8-65C97E24A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65D63-0117-4237-AF3C-F5932C8D4D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6576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14EAE-CC9B-3641-09B3-542623878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F2A7DA-DBF9-2782-4D99-BC59B8D84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CDE60-9FCE-4A5F-A00B-1E551C8543A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ABCE0F-4133-9314-CF01-EDC73A8C8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2510E4-603F-31E7-5851-C6ADA7321F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65D63-0117-4237-AF3C-F5932C8D4D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7969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E9F9C20-408F-E5A9-A1EF-D4CA790F1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CDE60-9FCE-4A5F-A00B-1E551C8543A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D8835B-5E5C-42BF-2BC9-F571AB450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D515C-65DE-4EDC-2174-0B3DCB5F6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65D63-0117-4237-AF3C-F5932C8D4D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6250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53ACBF-1B3D-19B3-CCEA-17B3654071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F32F9C-E7E3-6B78-53F1-AADC0218BA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EB9351-9441-291F-9739-54D9FDD13B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6B53AA-C7CE-EE9E-A7CB-88E0346360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CDE60-9FCE-4A5F-A00B-1E551C8543A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5E96BF-1D20-A126-00F4-705504E3D4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96A703-2328-1EC7-940D-B88D697F3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65D63-0117-4237-AF3C-F5932C8D4D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9989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061710-41EA-2A79-AC1B-93164FBB07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FE9231E-0C04-001C-0055-BAC4C24974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616479-C38C-F8D2-3CDA-CDEF841204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D610A4-9367-53CB-45F9-7BAD2BAE3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CDE60-9FCE-4A5F-A00B-1E551C8543A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EE79B3-F410-D52A-C267-FFE160541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C84D23-2A49-9A4C-57E0-97A35EDC5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65D63-0117-4237-AF3C-F5932C8D4D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662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1343A-56B2-AC29-51EE-BAFE53428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798BC4-4552-0E7F-A5F7-69A6C66E67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7C9256-C4CA-692B-6B65-EEBEFD968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CDE60-9FCE-4A5F-A00B-1E551C8543A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FDE5D1-42CC-A9D4-FD76-0558D8398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CC0DC5-4209-A055-72B2-4AA25DAF0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65D63-0117-4237-AF3C-F5932C8D4D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19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0E22D2A-8A5F-974D-A252-6991701E7F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CF0DF4-2ED6-6EE3-8891-4BD27549EA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B285E2-C25D-CAFC-E86C-1ADFC1F90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CDE60-9FCE-4A5F-A00B-1E551C8543A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56752B-4C0D-7BC7-46DA-73C73904C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417E4B-E2D0-BD33-1456-49049FDA8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65D63-0117-4237-AF3C-F5932C8D4D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9619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7D4AF5-1EC1-E079-C204-7C7BD0D50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8028C3-7BAA-702F-6BEB-FEDD60F449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9DAF49-F2FD-EC40-D3AC-9B74C8024D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BCDE60-9FCE-4A5F-A00B-1E551C8543A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849EB0-A220-A9D6-58FB-42CE1155A2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203AE9-7431-133B-EF9B-E07FD63255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965D63-0117-4237-AF3C-F5932C8D4D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658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2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D38FE523-87F1-1F04-E6B1-5E55BF2C631C}"/>
              </a:ext>
            </a:extLst>
          </p:cNvPr>
          <p:cNvSpPr/>
          <p:nvPr/>
        </p:nvSpPr>
        <p:spPr>
          <a:xfrm>
            <a:off x="2453439" y="442079"/>
            <a:ext cx="8075596" cy="1977027"/>
          </a:xfrm>
          <a:prstGeom prst="parallelogram">
            <a:avLst>
              <a:gd name="adj" fmla="val 70789"/>
            </a:avLst>
          </a:prstGeom>
          <a:solidFill>
            <a:srgbClr val="156082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4DE8363-436D-4E0F-A1BC-53D4528F160A}"/>
              </a:ext>
            </a:extLst>
          </p:cNvPr>
          <p:cNvCxnSpPr/>
          <p:nvPr/>
        </p:nvCxnSpPr>
        <p:spPr>
          <a:xfrm flipV="1">
            <a:off x="2453439" y="1676517"/>
            <a:ext cx="0" cy="74258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BADC0E3-E8FC-B524-350C-BD7507E4EB9C}"/>
              </a:ext>
            </a:extLst>
          </p:cNvPr>
          <p:cNvCxnSpPr>
            <a:cxnSpLocks/>
          </p:cNvCxnSpPr>
          <p:nvPr/>
        </p:nvCxnSpPr>
        <p:spPr>
          <a:xfrm>
            <a:off x="2453439" y="2419106"/>
            <a:ext cx="51302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413C04A-307C-DF30-318A-57C9F7461D75}"/>
              </a:ext>
            </a:extLst>
          </p:cNvPr>
          <p:cNvCxnSpPr>
            <a:cxnSpLocks/>
          </p:cNvCxnSpPr>
          <p:nvPr/>
        </p:nvCxnSpPr>
        <p:spPr>
          <a:xfrm flipV="1">
            <a:off x="2453439" y="1969125"/>
            <a:ext cx="311859" cy="44998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8089167-F48C-580F-7745-9782DA194CD8}"/>
                  </a:ext>
                </a:extLst>
              </p:cNvPr>
              <p:cNvSpPr txBox="1"/>
              <p:nvPr/>
            </p:nvSpPr>
            <p:spPr>
              <a:xfrm>
                <a:off x="2414197" y="2499477"/>
                <a:ext cx="59150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[111]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8089167-F48C-580F-7745-9782DA194C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4197" y="2499477"/>
                <a:ext cx="591509" cy="276999"/>
              </a:xfrm>
              <a:prstGeom prst="rect">
                <a:avLst/>
              </a:prstGeom>
              <a:blipFill>
                <a:blip r:embed="rId2"/>
                <a:stretch>
                  <a:fillRect l="-14433" t="-2222" r="-15464" b="-4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828B28C-E7B2-9784-5879-0FC16BAEEC80}"/>
                  </a:ext>
                </a:extLst>
              </p:cNvPr>
              <p:cNvSpPr txBox="1"/>
              <p:nvPr/>
            </p:nvSpPr>
            <p:spPr>
              <a:xfrm>
                <a:off x="1804400" y="1830625"/>
                <a:ext cx="59150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[101]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828B28C-E7B2-9784-5879-0FC16BAEEC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4400" y="1830625"/>
                <a:ext cx="591509" cy="276999"/>
              </a:xfrm>
              <a:prstGeom prst="rect">
                <a:avLst/>
              </a:prstGeom>
              <a:blipFill>
                <a:blip r:embed="rId3"/>
                <a:stretch>
                  <a:fillRect l="-15464" t="-2174" r="-14433" b="-369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5EB2D9B-D6F9-7C62-8DC4-A79C9143CA21}"/>
                  </a:ext>
                </a:extLst>
              </p:cNvPr>
              <p:cNvSpPr txBox="1"/>
              <p:nvPr/>
            </p:nvSpPr>
            <p:spPr>
              <a:xfrm>
                <a:off x="2765298" y="2003608"/>
                <a:ext cx="591509" cy="2778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5EB2D9B-D6F9-7C62-8DC4-A79C9143CA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5298" y="2003608"/>
                <a:ext cx="591509" cy="277897"/>
              </a:xfrm>
              <a:prstGeom prst="rect">
                <a:avLst/>
              </a:prstGeom>
              <a:blipFill>
                <a:blip r:embed="rId4"/>
                <a:stretch>
                  <a:fillRect l="-15464" t="-6667" r="-15464" b="-3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045A3D3-D966-AAC2-00F7-554DECED3BDC}"/>
              </a:ext>
            </a:extLst>
          </p:cNvPr>
          <p:cNvCxnSpPr>
            <a:cxnSpLocks/>
          </p:cNvCxnSpPr>
          <p:nvPr/>
        </p:nvCxnSpPr>
        <p:spPr>
          <a:xfrm flipH="1">
            <a:off x="4314825" y="442078"/>
            <a:ext cx="548202" cy="774572"/>
          </a:xfrm>
          <a:prstGeom prst="line">
            <a:avLst/>
          </a:prstGeom>
          <a:ln w="57150"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76006A7-D011-E313-7D3B-40FC8F04CB84}"/>
              </a:ext>
            </a:extLst>
          </p:cNvPr>
          <p:cNvCxnSpPr>
            <a:cxnSpLocks/>
          </p:cNvCxnSpPr>
          <p:nvPr/>
        </p:nvCxnSpPr>
        <p:spPr>
          <a:xfrm flipH="1">
            <a:off x="3498850" y="1430592"/>
            <a:ext cx="688975" cy="988515"/>
          </a:xfrm>
          <a:prstGeom prst="line">
            <a:avLst/>
          </a:prstGeom>
          <a:ln w="57150"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F8F63B2-6846-813C-81B4-952D394211F9}"/>
              </a:ext>
            </a:extLst>
          </p:cNvPr>
          <p:cNvCxnSpPr>
            <a:cxnSpLocks/>
          </p:cNvCxnSpPr>
          <p:nvPr/>
        </p:nvCxnSpPr>
        <p:spPr>
          <a:xfrm flipH="1">
            <a:off x="4187825" y="1457950"/>
            <a:ext cx="168275" cy="0"/>
          </a:xfrm>
          <a:prstGeom prst="line">
            <a:avLst/>
          </a:prstGeom>
          <a:ln w="57150"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2AE6502-9690-FED3-695B-CB4598A6ECF7}"/>
              </a:ext>
            </a:extLst>
          </p:cNvPr>
          <p:cNvCxnSpPr>
            <a:cxnSpLocks/>
          </p:cNvCxnSpPr>
          <p:nvPr/>
        </p:nvCxnSpPr>
        <p:spPr>
          <a:xfrm flipH="1">
            <a:off x="4314824" y="1216650"/>
            <a:ext cx="180976" cy="265832"/>
          </a:xfrm>
          <a:prstGeom prst="line">
            <a:avLst/>
          </a:prstGeom>
          <a:ln w="57150"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8074CFF-48A0-F814-BAF3-080D3593D9B0}"/>
              </a:ext>
            </a:extLst>
          </p:cNvPr>
          <p:cNvCxnSpPr>
            <a:cxnSpLocks/>
          </p:cNvCxnSpPr>
          <p:nvPr/>
        </p:nvCxnSpPr>
        <p:spPr>
          <a:xfrm flipH="1">
            <a:off x="4292600" y="1216650"/>
            <a:ext cx="203200" cy="0"/>
          </a:xfrm>
          <a:prstGeom prst="line">
            <a:avLst/>
          </a:prstGeom>
          <a:ln w="57150"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DE9E742-26AC-893E-3B52-43CEFBF5BB8B}"/>
              </a:ext>
            </a:extLst>
          </p:cNvPr>
          <p:cNvSpPr txBox="1"/>
          <p:nvPr/>
        </p:nvSpPr>
        <p:spPr>
          <a:xfrm>
            <a:off x="130968" y="72747"/>
            <a:ext cx="1935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Basic Schematic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C3834A5-3EDC-5820-6237-178E7694AF42}"/>
              </a:ext>
            </a:extLst>
          </p:cNvPr>
          <p:cNvCxnSpPr/>
          <p:nvPr/>
        </p:nvCxnSpPr>
        <p:spPr>
          <a:xfrm>
            <a:off x="3714750" y="638174"/>
            <a:ext cx="6667500" cy="0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2D5565-D1F9-C22C-7D06-12DC75BEFF71}"/>
              </a:ext>
            </a:extLst>
          </p:cNvPr>
          <p:cNvCxnSpPr/>
          <p:nvPr/>
        </p:nvCxnSpPr>
        <p:spPr>
          <a:xfrm>
            <a:off x="3576636" y="838199"/>
            <a:ext cx="6667500" cy="0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7ACBA8B-3159-6DCE-3D92-4BDACF9FF056}"/>
              </a:ext>
            </a:extLst>
          </p:cNvPr>
          <p:cNvCxnSpPr/>
          <p:nvPr/>
        </p:nvCxnSpPr>
        <p:spPr>
          <a:xfrm>
            <a:off x="3443286" y="1028699"/>
            <a:ext cx="6667500" cy="0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8EF2FBA-EF5A-CDF9-0358-970C5AB35381}"/>
              </a:ext>
            </a:extLst>
          </p:cNvPr>
          <p:cNvCxnSpPr/>
          <p:nvPr/>
        </p:nvCxnSpPr>
        <p:spPr>
          <a:xfrm>
            <a:off x="3305179" y="1216650"/>
            <a:ext cx="6667500" cy="0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A2D587D-EA9B-CA0A-332A-9944963D6F84}"/>
              </a:ext>
            </a:extLst>
          </p:cNvPr>
          <p:cNvCxnSpPr/>
          <p:nvPr/>
        </p:nvCxnSpPr>
        <p:spPr>
          <a:xfrm>
            <a:off x="3152775" y="1437568"/>
            <a:ext cx="6667500" cy="0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CC55259-15DE-2996-C87E-C0373CA6EB13}"/>
              </a:ext>
            </a:extLst>
          </p:cNvPr>
          <p:cNvCxnSpPr/>
          <p:nvPr/>
        </p:nvCxnSpPr>
        <p:spPr>
          <a:xfrm>
            <a:off x="2986654" y="1676517"/>
            <a:ext cx="6667500" cy="0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0698A4E-9B9B-F1B7-630E-94F64552ACA6}"/>
              </a:ext>
            </a:extLst>
          </p:cNvPr>
          <p:cNvCxnSpPr/>
          <p:nvPr/>
        </p:nvCxnSpPr>
        <p:spPr>
          <a:xfrm>
            <a:off x="2779587" y="1950193"/>
            <a:ext cx="6667500" cy="0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7465B71-720C-F324-2B6B-7FCA9E995613}"/>
              </a:ext>
            </a:extLst>
          </p:cNvPr>
          <p:cNvCxnSpPr/>
          <p:nvPr/>
        </p:nvCxnSpPr>
        <p:spPr>
          <a:xfrm>
            <a:off x="2542491" y="2281505"/>
            <a:ext cx="6667500" cy="0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DBA7344-3879-3031-1F03-7E55F0D481BF}"/>
              </a:ext>
            </a:extLst>
          </p:cNvPr>
          <p:cNvCxnSpPr>
            <a:cxnSpLocks/>
          </p:cNvCxnSpPr>
          <p:nvPr/>
        </p:nvCxnSpPr>
        <p:spPr>
          <a:xfrm flipH="1">
            <a:off x="3498850" y="442078"/>
            <a:ext cx="1364177" cy="1977028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CD455EF-9DBA-5E3B-D2BC-BA9CE3CFED5A}"/>
              </a:ext>
            </a:extLst>
          </p:cNvPr>
          <p:cNvCxnSpPr>
            <a:cxnSpLocks/>
          </p:cNvCxnSpPr>
          <p:nvPr/>
        </p:nvCxnSpPr>
        <p:spPr>
          <a:xfrm flipH="1">
            <a:off x="3665802" y="442077"/>
            <a:ext cx="1364177" cy="1977028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55049B1-8582-60F1-34FB-A07E1E1CECD3}"/>
              </a:ext>
            </a:extLst>
          </p:cNvPr>
          <p:cNvCxnSpPr>
            <a:cxnSpLocks/>
          </p:cNvCxnSpPr>
          <p:nvPr/>
        </p:nvCxnSpPr>
        <p:spPr>
          <a:xfrm flipH="1">
            <a:off x="3864282" y="442078"/>
            <a:ext cx="1364177" cy="1977028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80F347AE-A527-1282-1FD7-3DD1D1A54BED}"/>
              </a:ext>
            </a:extLst>
          </p:cNvPr>
          <p:cNvCxnSpPr>
            <a:cxnSpLocks/>
          </p:cNvCxnSpPr>
          <p:nvPr/>
        </p:nvCxnSpPr>
        <p:spPr>
          <a:xfrm flipH="1">
            <a:off x="4031234" y="442077"/>
            <a:ext cx="1364177" cy="1977028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FFBBE74-9D45-85EC-795A-1E18AB4E5EA3}"/>
              </a:ext>
            </a:extLst>
          </p:cNvPr>
          <p:cNvCxnSpPr>
            <a:cxnSpLocks/>
          </p:cNvCxnSpPr>
          <p:nvPr/>
        </p:nvCxnSpPr>
        <p:spPr>
          <a:xfrm flipH="1">
            <a:off x="4192925" y="442077"/>
            <a:ext cx="1364177" cy="1977028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D0EE982-7942-F85E-8343-507B434BBCD8}"/>
              </a:ext>
            </a:extLst>
          </p:cNvPr>
          <p:cNvCxnSpPr>
            <a:cxnSpLocks/>
          </p:cNvCxnSpPr>
          <p:nvPr/>
        </p:nvCxnSpPr>
        <p:spPr>
          <a:xfrm flipH="1">
            <a:off x="4359877" y="442076"/>
            <a:ext cx="1364177" cy="1977028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3CD134E7-73BA-A6D3-4510-AE6DD5877DD8}"/>
              </a:ext>
            </a:extLst>
          </p:cNvPr>
          <p:cNvCxnSpPr>
            <a:cxnSpLocks/>
          </p:cNvCxnSpPr>
          <p:nvPr/>
        </p:nvCxnSpPr>
        <p:spPr>
          <a:xfrm flipH="1">
            <a:off x="4558357" y="442077"/>
            <a:ext cx="1364177" cy="1977028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91FA5936-A5F2-0AB6-3624-D80183B866F2}"/>
              </a:ext>
            </a:extLst>
          </p:cNvPr>
          <p:cNvCxnSpPr>
            <a:cxnSpLocks/>
          </p:cNvCxnSpPr>
          <p:nvPr/>
        </p:nvCxnSpPr>
        <p:spPr>
          <a:xfrm flipH="1">
            <a:off x="4725309" y="442076"/>
            <a:ext cx="1364177" cy="1977028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E9D6DD1E-F4F7-C3C5-2BE7-6C1A672A0ED6}"/>
              </a:ext>
            </a:extLst>
          </p:cNvPr>
          <p:cNvCxnSpPr>
            <a:cxnSpLocks/>
          </p:cNvCxnSpPr>
          <p:nvPr/>
        </p:nvCxnSpPr>
        <p:spPr>
          <a:xfrm flipH="1">
            <a:off x="4869913" y="442074"/>
            <a:ext cx="1364177" cy="1977028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91DB0355-ED88-7BE4-A3A0-2F22EFFE7324}"/>
              </a:ext>
            </a:extLst>
          </p:cNvPr>
          <p:cNvCxnSpPr>
            <a:cxnSpLocks/>
          </p:cNvCxnSpPr>
          <p:nvPr/>
        </p:nvCxnSpPr>
        <p:spPr>
          <a:xfrm flipH="1">
            <a:off x="5036865" y="442073"/>
            <a:ext cx="1364177" cy="1977028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7C3857AA-5927-2BD1-0F2F-597A1EC0C2FD}"/>
              </a:ext>
            </a:extLst>
          </p:cNvPr>
          <p:cNvCxnSpPr>
            <a:cxnSpLocks/>
          </p:cNvCxnSpPr>
          <p:nvPr/>
        </p:nvCxnSpPr>
        <p:spPr>
          <a:xfrm flipH="1">
            <a:off x="5235345" y="442074"/>
            <a:ext cx="1364177" cy="1977028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16CF6C2-2774-5408-EC21-F2AF17AD2948}"/>
              </a:ext>
            </a:extLst>
          </p:cNvPr>
          <p:cNvCxnSpPr>
            <a:cxnSpLocks/>
          </p:cNvCxnSpPr>
          <p:nvPr/>
        </p:nvCxnSpPr>
        <p:spPr>
          <a:xfrm flipH="1">
            <a:off x="5402297" y="442073"/>
            <a:ext cx="1364177" cy="1977028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CD1B5EC-A7E1-42A1-F0BA-D741ACFC8E1C}"/>
              </a:ext>
            </a:extLst>
          </p:cNvPr>
          <p:cNvCxnSpPr>
            <a:cxnSpLocks/>
          </p:cNvCxnSpPr>
          <p:nvPr/>
        </p:nvCxnSpPr>
        <p:spPr>
          <a:xfrm flipH="1">
            <a:off x="5563988" y="442073"/>
            <a:ext cx="1364177" cy="1977028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6051EE6-5BD7-E448-EBD5-ED118A140D1B}"/>
              </a:ext>
            </a:extLst>
          </p:cNvPr>
          <p:cNvCxnSpPr>
            <a:cxnSpLocks/>
          </p:cNvCxnSpPr>
          <p:nvPr/>
        </p:nvCxnSpPr>
        <p:spPr>
          <a:xfrm flipH="1">
            <a:off x="5730940" y="442072"/>
            <a:ext cx="1364177" cy="1977028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63815C7-602E-4449-5472-752159F3C502}"/>
              </a:ext>
            </a:extLst>
          </p:cNvPr>
          <p:cNvCxnSpPr>
            <a:cxnSpLocks/>
          </p:cNvCxnSpPr>
          <p:nvPr/>
        </p:nvCxnSpPr>
        <p:spPr>
          <a:xfrm flipH="1">
            <a:off x="5929420" y="442073"/>
            <a:ext cx="1364177" cy="1977028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DC324B7-6E0F-3BBB-1C5F-6D3802DF1AF9}"/>
              </a:ext>
            </a:extLst>
          </p:cNvPr>
          <p:cNvCxnSpPr>
            <a:cxnSpLocks/>
          </p:cNvCxnSpPr>
          <p:nvPr/>
        </p:nvCxnSpPr>
        <p:spPr>
          <a:xfrm flipH="1">
            <a:off x="6096372" y="442072"/>
            <a:ext cx="1364177" cy="1977028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D280F9BC-B88D-82AE-3FB3-7520F7631EAF}"/>
                  </a:ext>
                </a:extLst>
              </p:cNvPr>
              <p:cNvSpPr txBox="1"/>
              <p:nvPr/>
            </p:nvSpPr>
            <p:spPr>
              <a:xfrm>
                <a:off x="153006" y="3036488"/>
                <a:ext cx="3423630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1D line of total Length NL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Nodes indexed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+1 </m:t>
                    </m:r>
                  </m:oMath>
                </a14:m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Segments indexed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D280F9BC-B88D-82AE-3FB3-7520F7631E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006" y="3036488"/>
                <a:ext cx="3423630" cy="923330"/>
              </a:xfrm>
              <a:prstGeom prst="rect">
                <a:avLst/>
              </a:prstGeom>
              <a:blipFill>
                <a:blip r:embed="rId5"/>
                <a:stretch>
                  <a:fillRect l="-1068" t="-2632" b="-98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TextBox 55">
            <a:extLst>
              <a:ext uri="{FF2B5EF4-FFF2-40B4-BE49-F238E27FC236}">
                <a16:creationId xmlns:a16="http://schemas.microsoft.com/office/drawing/2014/main" id="{70EB3927-38E5-3F5E-D878-2B70BDA8D75D}"/>
              </a:ext>
            </a:extLst>
          </p:cNvPr>
          <p:cNvSpPr txBox="1"/>
          <p:nvPr/>
        </p:nvSpPr>
        <p:spPr>
          <a:xfrm>
            <a:off x="3576636" y="3036488"/>
            <a:ext cx="320158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2 Stochastic Processes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Nucleation at nodes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Propagation across segments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986FFED4-5C95-507B-C95C-AE08D246EFAB}"/>
                  </a:ext>
                </a:extLst>
              </p:cNvPr>
              <p:cNvSpPr txBox="1"/>
              <p:nvPr/>
            </p:nvSpPr>
            <p:spPr>
              <a:xfrm>
                <a:off x="689282" y="4084048"/>
                <a:ext cx="2595134" cy="37375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𝜎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986FFED4-5C95-507B-C95C-AE08D246EF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282" y="4084048"/>
                <a:ext cx="2595134" cy="373757"/>
              </a:xfrm>
              <a:prstGeom prst="rect">
                <a:avLst/>
              </a:prstGeom>
              <a:blipFill>
                <a:blip r:embed="rId6"/>
                <a:stretch>
                  <a:fillRect b="-7937"/>
                </a:stretch>
              </a:blipFill>
              <a:ln>
                <a:solidFill>
                  <a:schemeClr val="tx1"/>
                </a:solidFill>
                <a:prstDash val="dash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EC5A59DA-9626-8552-74DB-D80A3F169087}"/>
                  </a:ext>
                </a:extLst>
              </p:cNvPr>
              <p:cNvSpPr txBox="1"/>
              <p:nvPr/>
            </p:nvSpPr>
            <p:spPr>
              <a:xfrm>
                <a:off x="271174" y="6002530"/>
                <a:ext cx="4286045" cy="7282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sSubSup>
                                    <m:sSub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𝐺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𝐸𝑥𝑝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sup>
                              </m:sSubSup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EC5A59DA-9626-8552-74DB-D80A3F1690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174" y="6002530"/>
                <a:ext cx="4286045" cy="72821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chemeClr val="tx1"/>
                </a:solidFill>
                <a:prstDash val="dash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7E737976-4B96-12D6-9A9A-7F88F15F4677}"/>
                  </a:ext>
                </a:extLst>
              </p:cNvPr>
              <p:cNvSpPr txBox="1"/>
              <p:nvPr/>
            </p:nvSpPr>
            <p:spPr>
              <a:xfrm>
                <a:off x="426661" y="4577199"/>
                <a:ext cx="2998770" cy="18263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≔</m:t>
                    </m:r>
                  </m:oMath>
                </a14:m>
                <a:r>
                  <a:rPr lang="en-US" dirty="0"/>
                  <a:t>nucleation barrier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≔</m:t>
                    </m:r>
                  </m:oMath>
                </a14:m>
                <a:r>
                  <a:rPr lang="en-US" dirty="0"/>
                  <a:t> attempt time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≔</m:t>
                    </m:r>
                  </m:oMath>
                </a14:m>
                <a:r>
                  <a:rPr lang="en-US" dirty="0"/>
                  <a:t> applied stress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≔</m:t>
                    </m:r>
                  </m:oMath>
                </a14:m>
                <a:r>
                  <a:rPr lang="en-US" dirty="0"/>
                  <a:t> activation volume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</p:txBody>
          </p:sp>
        </mc:Choice>
        <mc:Fallback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7E737976-4B96-12D6-9A9A-7F88F15F46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661" y="4577199"/>
                <a:ext cx="2998770" cy="1826397"/>
              </a:xfrm>
              <a:prstGeom prst="rect">
                <a:avLst/>
              </a:prstGeom>
              <a:blipFill>
                <a:blip r:embed="rId8"/>
                <a:stretch>
                  <a:fillRect l="-1423" r="-36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97C84F8A-BA28-25C1-21B5-71ED03F70F08}"/>
                  </a:ext>
                </a:extLst>
              </p:cNvPr>
              <p:cNvSpPr txBox="1"/>
              <p:nvPr/>
            </p:nvSpPr>
            <p:spPr>
              <a:xfrm>
                <a:off x="4703113" y="6002530"/>
                <a:ext cx="3006849" cy="68909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sSubSup>
                                    <m:sSub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𝐺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d>
                                    </m:sup>
                                  </m:sSub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97C84F8A-BA28-25C1-21B5-71ED03F70F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3113" y="6002530"/>
                <a:ext cx="3006849" cy="6890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solidFill>
                  <a:schemeClr val="tx1"/>
                </a:solidFill>
                <a:prstDash val="dash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TextBox 60">
            <a:extLst>
              <a:ext uri="{FF2B5EF4-FFF2-40B4-BE49-F238E27FC236}">
                <a16:creationId xmlns:a16="http://schemas.microsoft.com/office/drawing/2014/main" id="{C023E10A-A07E-081A-1941-9DDBDB603D33}"/>
              </a:ext>
            </a:extLst>
          </p:cNvPr>
          <p:cNvSpPr txBox="1"/>
          <p:nvPr/>
        </p:nvSpPr>
        <p:spPr>
          <a:xfrm>
            <a:off x="3829067" y="4387602"/>
            <a:ext cx="42672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Series resistance behavior: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Slow nucleation or slow propagation dominates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Barrier distributions matter more than means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CE12CE82-4182-048D-7F7C-A3890F45B877}"/>
                  </a:ext>
                </a:extLst>
              </p:cNvPr>
              <p:cNvSpPr txBox="1"/>
              <p:nvPr/>
            </p:nvSpPr>
            <p:spPr>
              <a:xfrm>
                <a:off x="8110469" y="4883858"/>
                <a:ext cx="3294235" cy="77251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lgDash"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𝜆</m:t>
                                      </m:r>
                                    </m:e>
                                    <m:sup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</m:sup>
                                  </m:sSup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&gt;+&lt;</m:t>
                              </m:r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/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sSubSup>
                                        <m:sSubSup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𝜆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  <m:sup>
                                          <m:d>
                                            <m:d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𝑝</m:t>
                                              </m:r>
                                            </m:e>
                                          </m:d>
                                        </m:sup>
                                      </m:sSubSup>
                                    </m:den>
                                  </m:f>
                                </m:e>
                              </m:nary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&gt;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CE12CE82-4182-048D-7F7C-A3890F45B8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0469" y="4883858"/>
                <a:ext cx="3294235" cy="77251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chemeClr val="tx1"/>
                </a:solidFill>
                <a:prstDash val="lgDash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020BE897-5336-75B2-F463-A2C8AA2F868D}"/>
                  </a:ext>
                </a:extLst>
              </p:cNvPr>
              <p:cNvSpPr txBox="1"/>
              <p:nvPr/>
            </p:nvSpPr>
            <p:spPr>
              <a:xfrm>
                <a:off x="8042757" y="6002530"/>
                <a:ext cx="3429657" cy="71731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lgDash"/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𝐵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020BE897-5336-75B2-F463-A2C8AA2F86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2757" y="6002530"/>
                <a:ext cx="3429657" cy="71731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>
                <a:solidFill>
                  <a:schemeClr val="tx1"/>
                </a:solidFill>
                <a:prstDash val="lgDash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5" name="Picture 64">
            <a:extLst>
              <a:ext uri="{FF2B5EF4-FFF2-40B4-BE49-F238E27FC236}">
                <a16:creationId xmlns:a16="http://schemas.microsoft.com/office/drawing/2014/main" id="{7F0A0D8C-9682-4E44-40D9-32F8FA720DE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1614" y="2839323"/>
            <a:ext cx="3133725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17151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B766292-DE67-D709-E9AF-EB4C774EE5DA}"/>
              </a:ext>
            </a:extLst>
          </p:cNvPr>
          <p:cNvSpPr txBox="1"/>
          <p:nvPr/>
        </p:nvSpPr>
        <p:spPr>
          <a:xfrm>
            <a:off x="130968" y="72747"/>
            <a:ext cx="1755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KMC Algorithm</a:t>
            </a:r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98E1811B-F9F7-4E4E-7B01-D79F379AC6B4}"/>
              </a:ext>
            </a:extLst>
          </p:cNvPr>
          <p:cNvSpPr/>
          <p:nvPr/>
        </p:nvSpPr>
        <p:spPr>
          <a:xfrm>
            <a:off x="2643939" y="442080"/>
            <a:ext cx="8075596" cy="1977027"/>
          </a:xfrm>
          <a:prstGeom prst="parallelogram">
            <a:avLst>
              <a:gd name="adj" fmla="val 70789"/>
            </a:avLst>
          </a:prstGeom>
          <a:solidFill>
            <a:srgbClr val="156082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069B6A0-8192-DA6B-C5B8-B0AA16160AE2}"/>
              </a:ext>
            </a:extLst>
          </p:cNvPr>
          <p:cNvCxnSpPr/>
          <p:nvPr/>
        </p:nvCxnSpPr>
        <p:spPr>
          <a:xfrm flipV="1">
            <a:off x="2643939" y="1676518"/>
            <a:ext cx="0" cy="74258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3C87123-2562-951E-5784-0E44B33EAFF3}"/>
              </a:ext>
            </a:extLst>
          </p:cNvPr>
          <p:cNvCxnSpPr>
            <a:cxnSpLocks/>
          </p:cNvCxnSpPr>
          <p:nvPr/>
        </p:nvCxnSpPr>
        <p:spPr>
          <a:xfrm>
            <a:off x="2643939" y="2419107"/>
            <a:ext cx="51302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C901A3E-BC07-0E6C-0E46-D08138E3092C}"/>
              </a:ext>
            </a:extLst>
          </p:cNvPr>
          <p:cNvCxnSpPr>
            <a:cxnSpLocks/>
          </p:cNvCxnSpPr>
          <p:nvPr/>
        </p:nvCxnSpPr>
        <p:spPr>
          <a:xfrm flipV="1">
            <a:off x="2643939" y="1969126"/>
            <a:ext cx="311859" cy="44998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8E389A0-10E0-E879-8EF2-298D440FDBE3}"/>
                  </a:ext>
                </a:extLst>
              </p:cNvPr>
              <p:cNvSpPr txBox="1"/>
              <p:nvPr/>
            </p:nvSpPr>
            <p:spPr>
              <a:xfrm>
                <a:off x="2604697" y="2499478"/>
                <a:ext cx="59150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[111]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8E389A0-10E0-E879-8EF2-298D440FDB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4697" y="2499478"/>
                <a:ext cx="591509" cy="276999"/>
              </a:xfrm>
              <a:prstGeom prst="rect">
                <a:avLst/>
              </a:prstGeom>
              <a:blipFill>
                <a:blip r:embed="rId2"/>
                <a:stretch>
                  <a:fillRect l="-14433" t="-2222" r="-15464" b="-4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ACFAEB1-8FD4-F479-2FF9-E2905543688F}"/>
                  </a:ext>
                </a:extLst>
              </p:cNvPr>
              <p:cNvSpPr txBox="1"/>
              <p:nvPr/>
            </p:nvSpPr>
            <p:spPr>
              <a:xfrm>
                <a:off x="1994900" y="1830626"/>
                <a:ext cx="59150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[101]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ACFAEB1-8FD4-F479-2FF9-E290554368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4900" y="1830626"/>
                <a:ext cx="591509" cy="276999"/>
              </a:xfrm>
              <a:prstGeom prst="rect">
                <a:avLst/>
              </a:prstGeom>
              <a:blipFill>
                <a:blip r:embed="rId3"/>
                <a:stretch>
                  <a:fillRect l="-14433" t="-2174" r="-15464" b="-369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16971B4-B085-B612-B95B-FD164614E3E9}"/>
                  </a:ext>
                </a:extLst>
              </p:cNvPr>
              <p:cNvSpPr txBox="1"/>
              <p:nvPr/>
            </p:nvSpPr>
            <p:spPr>
              <a:xfrm>
                <a:off x="2955798" y="2003609"/>
                <a:ext cx="591509" cy="2778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16971B4-B085-B612-B95B-FD164614E3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5798" y="2003609"/>
                <a:ext cx="591509" cy="277897"/>
              </a:xfrm>
              <a:prstGeom prst="rect">
                <a:avLst/>
              </a:prstGeom>
              <a:blipFill>
                <a:blip r:embed="rId4"/>
                <a:stretch>
                  <a:fillRect l="-15464" t="-6667" r="-15464" b="-3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7255D83-2FF6-67CF-CA17-32F053C397C6}"/>
              </a:ext>
            </a:extLst>
          </p:cNvPr>
          <p:cNvCxnSpPr>
            <a:cxnSpLocks/>
          </p:cNvCxnSpPr>
          <p:nvPr/>
        </p:nvCxnSpPr>
        <p:spPr>
          <a:xfrm flipH="1">
            <a:off x="4505325" y="442079"/>
            <a:ext cx="548202" cy="774572"/>
          </a:xfrm>
          <a:prstGeom prst="line">
            <a:avLst/>
          </a:prstGeom>
          <a:ln w="57150"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CC4A2B0-0557-6F15-FE3C-E9ECBE03550F}"/>
              </a:ext>
            </a:extLst>
          </p:cNvPr>
          <p:cNvCxnSpPr>
            <a:cxnSpLocks/>
          </p:cNvCxnSpPr>
          <p:nvPr/>
        </p:nvCxnSpPr>
        <p:spPr>
          <a:xfrm flipH="1">
            <a:off x="3689350" y="1430593"/>
            <a:ext cx="688975" cy="988515"/>
          </a:xfrm>
          <a:prstGeom prst="line">
            <a:avLst/>
          </a:prstGeom>
          <a:ln w="57150"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6E24FDE-63DA-327D-30B3-B397791B1CD1}"/>
              </a:ext>
            </a:extLst>
          </p:cNvPr>
          <p:cNvCxnSpPr>
            <a:cxnSpLocks/>
          </p:cNvCxnSpPr>
          <p:nvPr/>
        </p:nvCxnSpPr>
        <p:spPr>
          <a:xfrm flipH="1">
            <a:off x="4378325" y="1457951"/>
            <a:ext cx="168275" cy="0"/>
          </a:xfrm>
          <a:prstGeom prst="line">
            <a:avLst/>
          </a:prstGeom>
          <a:ln w="57150"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14F0966-1DD0-6E7F-F4CD-2EB94069F578}"/>
              </a:ext>
            </a:extLst>
          </p:cNvPr>
          <p:cNvCxnSpPr>
            <a:cxnSpLocks/>
          </p:cNvCxnSpPr>
          <p:nvPr/>
        </p:nvCxnSpPr>
        <p:spPr>
          <a:xfrm flipH="1">
            <a:off x="4505324" y="1216651"/>
            <a:ext cx="180976" cy="265832"/>
          </a:xfrm>
          <a:prstGeom prst="line">
            <a:avLst/>
          </a:prstGeom>
          <a:ln w="57150"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3F3248C-DFD9-C8B8-2682-2AF4FAB44F4B}"/>
              </a:ext>
            </a:extLst>
          </p:cNvPr>
          <p:cNvCxnSpPr>
            <a:cxnSpLocks/>
          </p:cNvCxnSpPr>
          <p:nvPr/>
        </p:nvCxnSpPr>
        <p:spPr>
          <a:xfrm flipH="1">
            <a:off x="4483100" y="1216651"/>
            <a:ext cx="203200" cy="0"/>
          </a:xfrm>
          <a:prstGeom prst="line">
            <a:avLst/>
          </a:prstGeom>
          <a:ln w="57150"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0A3DAA9-D4DA-3360-8438-B714EB65DF35}"/>
              </a:ext>
            </a:extLst>
          </p:cNvPr>
          <p:cNvCxnSpPr>
            <a:cxnSpLocks/>
          </p:cNvCxnSpPr>
          <p:nvPr/>
        </p:nvCxnSpPr>
        <p:spPr>
          <a:xfrm flipH="1">
            <a:off x="5977259" y="442079"/>
            <a:ext cx="548202" cy="774572"/>
          </a:xfrm>
          <a:prstGeom prst="line">
            <a:avLst/>
          </a:prstGeom>
          <a:ln w="57150"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DB2C409-B814-E4DE-9CFA-D9CA1CB3B292}"/>
              </a:ext>
            </a:extLst>
          </p:cNvPr>
          <p:cNvCxnSpPr>
            <a:cxnSpLocks/>
          </p:cNvCxnSpPr>
          <p:nvPr/>
        </p:nvCxnSpPr>
        <p:spPr>
          <a:xfrm flipH="1">
            <a:off x="5161284" y="1817878"/>
            <a:ext cx="420344" cy="601230"/>
          </a:xfrm>
          <a:prstGeom prst="line">
            <a:avLst/>
          </a:prstGeom>
          <a:ln w="57150"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9C32ACA-3407-AA4A-2B93-24B2C1E3BAFA}"/>
              </a:ext>
            </a:extLst>
          </p:cNvPr>
          <p:cNvCxnSpPr>
            <a:cxnSpLocks/>
          </p:cNvCxnSpPr>
          <p:nvPr/>
        </p:nvCxnSpPr>
        <p:spPr>
          <a:xfrm flipH="1">
            <a:off x="5553053" y="1798829"/>
            <a:ext cx="168275" cy="0"/>
          </a:xfrm>
          <a:prstGeom prst="line">
            <a:avLst/>
          </a:prstGeom>
          <a:ln w="57150"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41E962E-2D38-875F-90BE-F35269F54156}"/>
              </a:ext>
            </a:extLst>
          </p:cNvPr>
          <p:cNvCxnSpPr>
            <a:cxnSpLocks/>
          </p:cNvCxnSpPr>
          <p:nvPr/>
        </p:nvCxnSpPr>
        <p:spPr>
          <a:xfrm flipH="1">
            <a:off x="5721328" y="1203903"/>
            <a:ext cx="415732" cy="613975"/>
          </a:xfrm>
          <a:prstGeom prst="line">
            <a:avLst/>
          </a:prstGeom>
          <a:ln w="57150"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EDE784D-70E8-4561-4329-71AF458D5F36}"/>
              </a:ext>
            </a:extLst>
          </p:cNvPr>
          <p:cNvCxnSpPr>
            <a:cxnSpLocks/>
          </p:cNvCxnSpPr>
          <p:nvPr/>
        </p:nvCxnSpPr>
        <p:spPr>
          <a:xfrm flipH="1">
            <a:off x="5955034" y="1216651"/>
            <a:ext cx="203200" cy="0"/>
          </a:xfrm>
          <a:prstGeom prst="line">
            <a:avLst/>
          </a:prstGeom>
          <a:ln w="57150"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5641154-9FC6-AD5A-EC45-D72CC74A2234}"/>
              </a:ext>
            </a:extLst>
          </p:cNvPr>
          <p:cNvSpPr txBox="1"/>
          <p:nvPr/>
        </p:nvSpPr>
        <p:spPr>
          <a:xfrm>
            <a:off x="3345871" y="1141558"/>
            <a:ext cx="1283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Nucleation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29178D7-AA59-B02F-838F-87163C220AED}"/>
              </a:ext>
            </a:extLst>
          </p:cNvPr>
          <p:cNvSpPr txBox="1"/>
          <p:nvPr/>
        </p:nvSpPr>
        <p:spPr>
          <a:xfrm>
            <a:off x="5979102" y="1482483"/>
            <a:ext cx="2398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Propagation/migration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F43B58C-C086-5FCD-7BF1-1B9FB07A0C40}"/>
                  </a:ext>
                </a:extLst>
              </p:cNvPr>
              <p:cNvSpPr txBox="1"/>
              <p:nvPr/>
            </p:nvSpPr>
            <p:spPr>
              <a:xfrm>
                <a:off x="217933" y="3228456"/>
                <a:ext cx="2737865" cy="7176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Sup>
                                    <m:sSub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𝐺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𝑒𝑓𝑓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F43B58C-C086-5FCD-7BF1-1B9FB07A0C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933" y="3228456"/>
                <a:ext cx="2737865" cy="71769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0F1E980-62C7-966D-E47D-249FD20B7314}"/>
                  </a:ext>
                </a:extLst>
              </p:cNvPr>
              <p:cNvSpPr txBox="1"/>
              <p:nvPr/>
            </p:nvSpPr>
            <p:spPr>
              <a:xfrm>
                <a:off x="217933" y="4121133"/>
                <a:ext cx="141814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−12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0F1E980-62C7-966D-E47D-249FD20B73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933" y="4121133"/>
                <a:ext cx="1418144" cy="276999"/>
              </a:xfrm>
              <a:prstGeom prst="rect">
                <a:avLst/>
              </a:prstGeom>
              <a:blipFill>
                <a:blip r:embed="rId6"/>
                <a:stretch>
                  <a:fillRect l="-2155" t="-2222" b="-1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50C0D2D-8406-D297-6A4F-E180E6BA84CD}"/>
                  </a:ext>
                </a:extLst>
              </p:cNvPr>
              <p:cNvSpPr txBox="1"/>
              <p:nvPr/>
            </p:nvSpPr>
            <p:spPr>
              <a:xfrm>
                <a:off x="222305" y="4618207"/>
                <a:ext cx="4407444" cy="8642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Nucleation site selected with probability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e>
                            </m:d>
                          </m:e>
                        </m:nary>
                      </m:den>
                    </m:f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50C0D2D-8406-D297-6A4F-E180E6BA84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305" y="4618207"/>
                <a:ext cx="4407444" cy="864276"/>
              </a:xfrm>
              <a:prstGeom prst="rect">
                <a:avLst/>
              </a:prstGeom>
              <a:blipFill>
                <a:blip r:embed="rId7"/>
                <a:stretch>
                  <a:fillRect l="-1107" t="-3546" b="-510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5A9BDB2E-713C-E093-8341-238AE6D99E27}"/>
                  </a:ext>
                </a:extLst>
              </p:cNvPr>
              <p:cNvSpPr txBox="1"/>
              <p:nvPr/>
            </p:nvSpPr>
            <p:spPr>
              <a:xfrm>
                <a:off x="217934" y="5562854"/>
                <a:ext cx="4687442" cy="681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Nucleation 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ime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sampled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from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exponential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𝐸𝑥𝑝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5A9BDB2E-713C-E093-8341-238AE6D99E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934" y="5562854"/>
                <a:ext cx="4687442" cy="681982"/>
              </a:xfrm>
              <a:prstGeom prst="rect">
                <a:avLst/>
              </a:prstGeom>
              <a:blipFill>
                <a:blip r:embed="rId8"/>
                <a:stretch>
                  <a:fillRect l="-1170" t="-4505" b="-54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6EEB1A4-9C7B-C53B-D84F-D9CE0A4F76F3}"/>
                  </a:ext>
                </a:extLst>
              </p:cNvPr>
              <p:cNvSpPr txBox="1"/>
              <p:nvPr/>
            </p:nvSpPr>
            <p:spPr>
              <a:xfrm>
                <a:off x="5553053" y="3227613"/>
                <a:ext cx="3571555" cy="7257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Effective propagation barrier: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p>
                      </m:sSub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𝜎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6EEB1A4-9C7B-C53B-D84F-D9CE0A4F76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3053" y="3227613"/>
                <a:ext cx="3571555" cy="725711"/>
              </a:xfrm>
              <a:prstGeom prst="rect">
                <a:avLst/>
              </a:prstGeom>
              <a:blipFill>
                <a:blip r:embed="rId9"/>
                <a:stretch>
                  <a:fillRect l="-1536" t="-3333" b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F0498396-DE60-CCC0-3758-D27C0FA767E6}"/>
              </a:ext>
            </a:extLst>
          </p:cNvPr>
          <p:cNvSpPr txBox="1"/>
          <p:nvPr/>
        </p:nvSpPr>
        <p:spPr>
          <a:xfrm>
            <a:off x="46486" y="2818939"/>
            <a:ext cx="2753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Arrhenius nucleation rate: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8BA59D7-B55A-4781-7D75-43F1256337A3}"/>
                  </a:ext>
                </a:extLst>
              </p:cNvPr>
              <p:cNvSpPr txBox="1"/>
              <p:nvPr/>
            </p:nvSpPr>
            <p:spPr>
              <a:xfrm>
                <a:off x="5581628" y="4142140"/>
                <a:ext cx="4907049" cy="110357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Stopping Probability: 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𝑠𝑡𝑜𝑝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=1−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func>
                                    <m:func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max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Sup>
                                            <m:sSubSup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𝑝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𝑒𝑓𝑓</m:t>
                                              </m:r>
                                            </m:sup>
                                          </m:sSubSup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𝐺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𝑝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𝑟𝑒𝑓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,0</m:t>
                                          </m:r>
                                        </m:e>
                                      </m:d>
                                    </m:e>
                                  </m:func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8BA59D7-B55A-4781-7D75-43F1256337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1628" y="4142140"/>
                <a:ext cx="4907049" cy="1103572"/>
              </a:xfrm>
              <a:prstGeom prst="rect">
                <a:avLst/>
              </a:prstGeom>
              <a:blipFill>
                <a:blip r:embed="rId10"/>
                <a:stretch>
                  <a:fillRect l="-1118" t="-21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131650AF-EEA8-1D8B-ECB3-37B463B31B5F}"/>
              </a:ext>
            </a:extLst>
          </p:cNvPr>
          <p:cNvCxnSpPr>
            <a:cxnSpLocks/>
          </p:cNvCxnSpPr>
          <p:nvPr/>
        </p:nvCxnSpPr>
        <p:spPr>
          <a:xfrm rot="10800000" flipV="1">
            <a:off x="9413877" y="3946155"/>
            <a:ext cx="1549399" cy="594094"/>
          </a:xfrm>
          <a:prstGeom prst="bentConnector3">
            <a:avLst>
              <a:gd name="adj1" fmla="val 9979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823A109-57ED-2744-3C66-2639C82DF39E}"/>
                  </a:ext>
                </a:extLst>
              </p:cNvPr>
              <p:cNvSpPr txBox="1"/>
              <p:nvPr/>
            </p:nvSpPr>
            <p:spPr>
              <a:xfrm>
                <a:off x="9846963" y="3587304"/>
                <a:ext cx="1283428" cy="3181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𝑚𝑒𝑑𝑖𝑎𝑛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823A109-57ED-2744-3C66-2639C82DF3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6963" y="3587304"/>
                <a:ext cx="1283428" cy="318164"/>
              </a:xfrm>
              <a:prstGeom prst="rect">
                <a:avLst/>
              </a:prstGeom>
              <a:blipFill>
                <a:blip r:embed="rId11"/>
                <a:stretch>
                  <a:fillRect l="-4265" b="-169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71900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521A27B8-D6DB-7D45-461A-D6435CBB5ED8}"/>
              </a:ext>
            </a:extLst>
          </p:cNvPr>
          <p:cNvSpPr/>
          <p:nvPr/>
        </p:nvSpPr>
        <p:spPr>
          <a:xfrm>
            <a:off x="2643939" y="442080"/>
            <a:ext cx="8075596" cy="1977027"/>
          </a:xfrm>
          <a:prstGeom prst="parallelogram">
            <a:avLst>
              <a:gd name="adj" fmla="val 70789"/>
            </a:avLst>
          </a:prstGeom>
          <a:solidFill>
            <a:srgbClr val="156082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3443460-A66B-D63B-F953-D109C1155B55}"/>
              </a:ext>
            </a:extLst>
          </p:cNvPr>
          <p:cNvCxnSpPr/>
          <p:nvPr/>
        </p:nvCxnSpPr>
        <p:spPr>
          <a:xfrm flipV="1">
            <a:off x="2643939" y="1676518"/>
            <a:ext cx="0" cy="74258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57FDE9B-4013-99CE-6AC3-8CECBBEA8AFA}"/>
              </a:ext>
            </a:extLst>
          </p:cNvPr>
          <p:cNvCxnSpPr>
            <a:cxnSpLocks/>
          </p:cNvCxnSpPr>
          <p:nvPr/>
        </p:nvCxnSpPr>
        <p:spPr>
          <a:xfrm>
            <a:off x="2643939" y="2419107"/>
            <a:ext cx="51302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3E394A5-0592-249F-D2D2-FADF45FF2BF4}"/>
              </a:ext>
            </a:extLst>
          </p:cNvPr>
          <p:cNvCxnSpPr>
            <a:cxnSpLocks/>
          </p:cNvCxnSpPr>
          <p:nvPr/>
        </p:nvCxnSpPr>
        <p:spPr>
          <a:xfrm flipV="1">
            <a:off x="2643939" y="1969126"/>
            <a:ext cx="311859" cy="44998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D68A441-30DE-222F-5BA8-0A4E99D29F6B}"/>
                  </a:ext>
                </a:extLst>
              </p:cNvPr>
              <p:cNvSpPr txBox="1"/>
              <p:nvPr/>
            </p:nvSpPr>
            <p:spPr>
              <a:xfrm>
                <a:off x="2604697" y="2499478"/>
                <a:ext cx="59150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[111]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D68A441-30DE-222F-5BA8-0A4E99D29F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4697" y="2499478"/>
                <a:ext cx="591509" cy="276999"/>
              </a:xfrm>
              <a:prstGeom prst="rect">
                <a:avLst/>
              </a:prstGeom>
              <a:blipFill>
                <a:blip r:embed="rId2"/>
                <a:stretch>
                  <a:fillRect l="-14433" t="-2222" r="-15464" b="-4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EAE6F6D-494D-565F-59B5-4B2D3FEAD57E}"/>
                  </a:ext>
                </a:extLst>
              </p:cNvPr>
              <p:cNvSpPr txBox="1"/>
              <p:nvPr/>
            </p:nvSpPr>
            <p:spPr>
              <a:xfrm>
                <a:off x="1994900" y="1830626"/>
                <a:ext cx="59150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[101]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EAE6F6D-494D-565F-59B5-4B2D3FEAD5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4900" y="1830626"/>
                <a:ext cx="591509" cy="276999"/>
              </a:xfrm>
              <a:prstGeom prst="rect">
                <a:avLst/>
              </a:prstGeom>
              <a:blipFill>
                <a:blip r:embed="rId3"/>
                <a:stretch>
                  <a:fillRect l="-14433" t="-2174" r="-15464" b="-369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AC83845-4699-D31E-F8E3-35D0FA2A14CD}"/>
                  </a:ext>
                </a:extLst>
              </p:cNvPr>
              <p:cNvSpPr txBox="1"/>
              <p:nvPr/>
            </p:nvSpPr>
            <p:spPr>
              <a:xfrm>
                <a:off x="2955798" y="2003609"/>
                <a:ext cx="591509" cy="2778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AC83845-4699-D31E-F8E3-35D0FA2A14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5798" y="2003609"/>
                <a:ext cx="591509" cy="277897"/>
              </a:xfrm>
              <a:prstGeom prst="rect">
                <a:avLst/>
              </a:prstGeom>
              <a:blipFill>
                <a:blip r:embed="rId4"/>
                <a:stretch>
                  <a:fillRect l="-15464" t="-6667" r="-15464" b="-3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E3D8A6F-E458-A43E-AE9A-28359905C99F}"/>
              </a:ext>
            </a:extLst>
          </p:cNvPr>
          <p:cNvCxnSpPr>
            <a:cxnSpLocks/>
          </p:cNvCxnSpPr>
          <p:nvPr/>
        </p:nvCxnSpPr>
        <p:spPr>
          <a:xfrm flipH="1">
            <a:off x="4505325" y="442079"/>
            <a:ext cx="548202" cy="774572"/>
          </a:xfrm>
          <a:prstGeom prst="line">
            <a:avLst/>
          </a:prstGeom>
          <a:ln w="57150"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98E4A48-56E5-F257-F47F-DC2AB3B454FC}"/>
              </a:ext>
            </a:extLst>
          </p:cNvPr>
          <p:cNvCxnSpPr>
            <a:cxnSpLocks/>
          </p:cNvCxnSpPr>
          <p:nvPr/>
        </p:nvCxnSpPr>
        <p:spPr>
          <a:xfrm flipH="1">
            <a:off x="3689350" y="1430593"/>
            <a:ext cx="688975" cy="988515"/>
          </a:xfrm>
          <a:prstGeom prst="line">
            <a:avLst/>
          </a:prstGeom>
          <a:ln w="57150"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B63585B-D72F-06CF-369C-9046299A2778}"/>
              </a:ext>
            </a:extLst>
          </p:cNvPr>
          <p:cNvCxnSpPr>
            <a:cxnSpLocks/>
          </p:cNvCxnSpPr>
          <p:nvPr/>
        </p:nvCxnSpPr>
        <p:spPr>
          <a:xfrm flipH="1">
            <a:off x="4378325" y="1457951"/>
            <a:ext cx="168275" cy="0"/>
          </a:xfrm>
          <a:prstGeom prst="line">
            <a:avLst/>
          </a:prstGeom>
          <a:ln w="57150"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426B629-B68A-8108-8107-610AE451336F}"/>
              </a:ext>
            </a:extLst>
          </p:cNvPr>
          <p:cNvCxnSpPr>
            <a:cxnSpLocks/>
          </p:cNvCxnSpPr>
          <p:nvPr/>
        </p:nvCxnSpPr>
        <p:spPr>
          <a:xfrm flipH="1">
            <a:off x="4505324" y="1216651"/>
            <a:ext cx="180976" cy="265832"/>
          </a:xfrm>
          <a:prstGeom prst="line">
            <a:avLst/>
          </a:prstGeom>
          <a:ln w="57150"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DFAFEC0-AB97-C5CD-9E8B-50955A048097}"/>
              </a:ext>
            </a:extLst>
          </p:cNvPr>
          <p:cNvCxnSpPr>
            <a:cxnSpLocks/>
          </p:cNvCxnSpPr>
          <p:nvPr/>
        </p:nvCxnSpPr>
        <p:spPr>
          <a:xfrm flipH="1">
            <a:off x="4483100" y="1216651"/>
            <a:ext cx="203200" cy="0"/>
          </a:xfrm>
          <a:prstGeom prst="line">
            <a:avLst/>
          </a:prstGeom>
          <a:ln w="57150"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A6B08C0-B653-910E-2F0B-99179611EAEE}"/>
              </a:ext>
            </a:extLst>
          </p:cNvPr>
          <p:cNvCxnSpPr/>
          <p:nvPr/>
        </p:nvCxnSpPr>
        <p:spPr>
          <a:xfrm flipV="1">
            <a:off x="5053527" y="140326"/>
            <a:ext cx="206559" cy="30175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DD372A5-753A-C034-FDE2-B42A5E8CF337}"/>
              </a:ext>
            </a:extLst>
          </p:cNvPr>
          <p:cNvCxnSpPr>
            <a:cxnSpLocks/>
          </p:cNvCxnSpPr>
          <p:nvPr/>
        </p:nvCxnSpPr>
        <p:spPr>
          <a:xfrm flipH="1">
            <a:off x="3491960" y="2419107"/>
            <a:ext cx="197390" cy="28153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1A6D141-585D-CB53-EB33-06B3AD8C6157}"/>
                  </a:ext>
                </a:extLst>
              </p:cNvPr>
              <p:cNvSpPr txBox="1"/>
              <p:nvPr/>
            </p:nvSpPr>
            <p:spPr>
              <a:xfrm>
                <a:off x="5314950" y="0"/>
                <a:ext cx="354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𝐿𝑇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1A6D141-585D-CB53-EB33-06B3AD8C6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4950" y="0"/>
                <a:ext cx="354841" cy="276999"/>
              </a:xfrm>
              <a:prstGeom prst="rect">
                <a:avLst/>
              </a:prstGeom>
              <a:blipFill>
                <a:blip r:embed="rId5"/>
                <a:stretch>
                  <a:fillRect l="-17241" r="-5172" b="-1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7BA75C0-21E9-7865-A91D-FF0C2BC915FB}"/>
                  </a:ext>
                </a:extLst>
              </p:cNvPr>
              <p:cNvSpPr txBox="1"/>
              <p:nvPr/>
            </p:nvSpPr>
            <p:spPr>
              <a:xfrm>
                <a:off x="3590655" y="2550581"/>
                <a:ext cx="354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𝐿𝑇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7BA75C0-21E9-7865-A91D-FF0C2BC915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0655" y="2550581"/>
                <a:ext cx="354841" cy="276999"/>
              </a:xfrm>
              <a:prstGeom prst="rect">
                <a:avLst/>
              </a:prstGeom>
              <a:blipFill>
                <a:blip r:embed="rId6"/>
                <a:stretch>
                  <a:fillRect l="-15517" r="-5172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F76B8B6-4176-6867-EA4E-8BB02FDA0C55}"/>
                  </a:ext>
                </a:extLst>
              </p:cNvPr>
              <p:cNvSpPr txBox="1"/>
              <p:nvPr/>
            </p:nvSpPr>
            <p:spPr>
              <a:xfrm>
                <a:off x="1611630" y="3218806"/>
                <a:ext cx="8632620" cy="15449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The line tension affects the nucleation barrier according to: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𝐿𝑇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𝜅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the absolute curvature of the dislocation line (taken by finite difference)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F76B8B6-4176-6867-EA4E-8BB02FDA0C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1630" y="3218806"/>
                <a:ext cx="8632620" cy="1544910"/>
              </a:xfrm>
              <a:prstGeom prst="rect">
                <a:avLst/>
              </a:prstGeom>
              <a:blipFill>
                <a:blip r:embed="rId7"/>
                <a:stretch>
                  <a:fillRect l="-565" t="-1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9C92C297-5861-124F-0EB1-80F3E772AC31}"/>
              </a:ext>
            </a:extLst>
          </p:cNvPr>
          <p:cNvSpPr txBox="1"/>
          <p:nvPr/>
        </p:nvSpPr>
        <p:spPr>
          <a:xfrm>
            <a:off x="2058202" y="5154942"/>
            <a:ext cx="80755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Line tension increases the nucleation barrier at positions where the dislocation line is curved. More curved regions require higher activation energy to nucleate, penalizing kinked configurations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7C025F4-A139-A484-2B60-37B0E1DEBE94}"/>
              </a:ext>
            </a:extLst>
          </p:cNvPr>
          <p:cNvSpPr txBox="1"/>
          <p:nvPr/>
        </p:nvSpPr>
        <p:spPr>
          <a:xfrm>
            <a:off x="130968" y="72747"/>
            <a:ext cx="14806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Line Tension</a:t>
            </a:r>
          </a:p>
        </p:txBody>
      </p:sp>
    </p:spTree>
    <p:extLst>
      <p:ext uri="{BB962C8B-B14F-4D97-AF65-F5344CB8AC3E}">
        <p14:creationId xmlns:p14="http://schemas.microsoft.com/office/powerpoint/2010/main" val="1413804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>
            <a:extLst>
              <a:ext uri="{FF2B5EF4-FFF2-40B4-BE49-F238E27FC236}">
                <a16:creationId xmlns:a16="http://schemas.microsoft.com/office/drawing/2014/main" id="{5F4E7A3C-51DB-6ED4-0DCB-6A4C0B19B183}"/>
              </a:ext>
            </a:extLst>
          </p:cNvPr>
          <p:cNvSpPr/>
          <p:nvPr/>
        </p:nvSpPr>
        <p:spPr>
          <a:xfrm rot="1856382">
            <a:off x="5735683" y="2383617"/>
            <a:ext cx="2679768" cy="2341253"/>
          </a:xfrm>
          <a:prstGeom prst="rect">
            <a:avLst/>
          </a:prstGeom>
          <a:solidFill>
            <a:srgbClr val="E97132">
              <a:alpha val="20000"/>
            </a:srgb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3A0EB1-978B-950E-4D77-DD8BC8F58FFA}"/>
              </a:ext>
            </a:extLst>
          </p:cNvPr>
          <p:cNvSpPr txBox="1"/>
          <p:nvPr/>
        </p:nvSpPr>
        <p:spPr>
          <a:xfrm>
            <a:off x="130968" y="72747"/>
            <a:ext cx="22403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Cross-kinking (TBD)</a:t>
            </a:r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4CE4658E-3D91-D0D7-5435-ECC075B26C0D}"/>
              </a:ext>
            </a:extLst>
          </p:cNvPr>
          <p:cNvSpPr/>
          <p:nvPr/>
        </p:nvSpPr>
        <p:spPr>
          <a:xfrm>
            <a:off x="2196264" y="1889880"/>
            <a:ext cx="8075596" cy="1977027"/>
          </a:xfrm>
          <a:prstGeom prst="parallelogram">
            <a:avLst>
              <a:gd name="adj" fmla="val 70789"/>
            </a:avLst>
          </a:prstGeom>
          <a:solidFill>
            <a:srgbClr val="156082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2BCD1BF-8D09-27E3-CDA9-E39020A37A7F}"/>
              </a:ext>
            </a:extLst>
          </p:cNvPr>
          <p:cNvCxnSpPr/>
          <p:nvPr/>
        </p:nvCxnSpPr>
        <p:spPr>
          <a:xfrm flipV="1">
            <a:off x="2196264" y="3124318"/>
            <a:ext cx="0" cy="74258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8D4D320-66B8-ACDA-6A4A-48A54ED53A08}"/>
              </a:ext>
            </a:extLst>
          </p:cNvPr>
          <p:cNvCxnSpPr>
            <a:cxnSpLocks/>
          </p:cNvCxnSpPr>
          <p:nvPr/>
        </p:nvCxnSpPr>
        <p:spPr>
          <a:xfrm>
            <a:off x="2196264" y="3866907"/>
            <a:ext cx="51302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A7BAFEC-2B41-B1C8-32DB-28029AE82A50}"/>
              </a:ext>
            </a:extLst>
          </p:cNvPr>
          <p:cNvCxnSpPr>
            <a:cxnSpLocks/>
          </p:cNvCxnSpPr>
          <p:nvPr/>
        </p:nvCxnSpPr>
        <p:spPr>
          <a:xfrm flipV="1">
            <a:off x="2196264" y="3416926"/>
            <a:ext cx="311859" cy="44998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931807F-7082-F1AF-98A2-DDD66776A754}"/>
                  </a:ext>
                </a:extLst>
              </p:cNvPr>
              <p:cNvSpPr txBox="1"/>
              <p:nvPr/>
            </p:nvSpPr>
            <p:spPr>
              <a:xfrm>
                <a:off x="2157022" y="3947278"/>
                <a:ext cx="59150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[111]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931807F-7082-F1AF-98A2-DDD66776A7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7022" y="3947278"/>
                <a:ext cx="591509" cy="276999"/>
              </a:xfrm>
              <a:prstGeom prst="rect">
                <a:avLst/>
              </a:prstGeom>
              <a:blipFill>
                <a:blip r:embed="rId2"/>
                <a:stretch>
                  <a:fillRect l="-15464" t="-4444" r="-14433" b="-3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8C1F296-63D6-6422-FE0B-69C596BBD038}"/>
                  </a:ext>
                </a:extLst>
              </p:cNvPr>
              <p:cNvSpPr txBox="1"/>
              <p:nvPr/>
            </p:nvSpPr>
            <p:spPr>
              <a:xfrm>
                <a:off x="1547225" y="3278426"/>
                <a:ext cx="59150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[101]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8C1F296-63D6-6422-FE0B-69C596BBD0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7225" y="3278426"/>
                <a:ext cx="591509" cy="276999"/>
              </a:xfrm>
              <a:prstGeom prst="rect">
                <a:avLst/>
              </a:prstGeom>
              <a:blipFill>
                <a:blip r:embed="rId3"/>
                <a:stretch>
                  <a:fillRect l="-15464" t="-4444" r="-14433" b="-3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8A1B44B-641D-F724-7B24-09B1902AD5A7}"/>
                  </a:ext>
                </a:extLst>
              </p:cNvPr>
              <p:cNvSpPr txBox="1"/>
              <p:nvPr/>
            </p:nvSpPr>
            <p:spPr>
              <a:xfrm>
                <a:off x="2508123" y="3451409"/>
                <a:ext cx="591509" cy="2778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8A1B44B-641D-F724-7B24-09B1902AD5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8123" y="3451409"/>
                <a:ext cx="591509" cy="277897"/>
              </a:xfrm>
              <a:prstGeom prst="rect">
                <a:avLst/>
              </a:prstGeom>
              <a:blipFill>
                <a:blip r:embed="rId4"/>
                <a:stretch>
                  <a:fillRect l="-14433" t="-4348" r="-16495" b="-369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C8326C9-7C0C-F254-9323-1E6A096B922E}"/>
              </a:ext>
            </a:extLst>
          </p:cNvPr>
          <p:cNvCxnSpPr>
            <a:cxnSpLocks/>
          </p:cNvCxnSpPr>
          <p:nvPr/>
        </p:nvCxnSpPr>
        <p:spPr>
          <a:xfrm flipV="1">
            <a:off x="5324475" y="1861304"/>
            <a:ext cx="1198728" cy="200560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79EF249B-EC5C-14C3-40A4-3283E73B73AF}"/>
              </a:ext>
            </a:extLst>
          </p:cNvPr>
          <p:cNvSpPr/>
          <p:nvPr/>
        </p:nvSpPr>
        <p:spPr>
          <a:xfrm rot="1856382">
            <a:off x="3082250" y="908680"/>
            <a:ext cx="3048000" cy="2341253"/>
          </a:xfrm>
          <a:prstGeom prst="rect">
            <a:avLst/>
          </a:prstGeom>
          <a:solidFill>
            <a:srgbClr val="E97132">
              <a:alpha val="20000"/>
            </a:srgb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676CC13-4411-948A-7CEA-621C1CC2D334}"/>
              </a:ext>
            </a:extLst>
          </p:cNvPr>
          <p:cNvCxnSpPr>
            <a:cxnSpLocks/>
          </p:cNvCxnSpPr>
          <p:nvPr/>
        </p:nvCxnSpPr>
        <p:spPr>
          <a:xfrm flipH="1">
            <a:off x="5486371" y="1889877"/>
            <a:ext cx="1224515" cy="1977034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DB222344-0BA7-8390-8CA7-F75641538F45}"/>
              </a:ext>
            </a:extLst>
          </p:cNvPr>
          <p:cNvCxnSpPr>
            <a:cxnSpLocks/>
          </p:cNvCxnSpPr>
          <p:nvPr/>
        </p:nvCxnSpPr>
        <p:spPr>
          <a:xfrm flipH="1">
            <a:off x="4102112" y="1145318"/>
            <a:ext cx="1217536" cy="2022628"/>
          </a:xfrm>
          <a:prstGeom prst="line">
            <a:avLst/>
          </a:prstGeom>
          <a:ln w="952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016CE75D-4804-7724-F153-BFA9C8DC5E56}"/>
              </a:ext>
            </a:extLst>
          </p:cNvPr>
          <p:cNvCxnSpPr>
            <a:cxnSpLocks/>
          </p:cNvCxnSpPr>
          <p:nvPr/>
        </p:nvCxnSpPr>
        <p:spPr>
          <a:xfrm flipH="1">
            <a:off x="4198195" y="1214119"/>
            <a:ext cx="1217536" cy="2022628"/>
          </a:xfrm>
          <a:prstGeom prst="line">
            <a:avLst/>
          </a:prstGeom>
          <a:ln w="952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000C2AD7-F261-399E-1938-B85C4EAEB47E}"/>
              </a:ext>
            </a:extLst>
          </p:cNvPr>
          <p:cNvCxnSpPr>
            <a:cxnSpLocks/>
          </p:cNvCxnSpPr>
          <p:nvPr/>
        </p:nvCxnSpPr>
        <p:spPr>
          <a:xfrm flipH="1">
            <a:off x="4300592" y="1253839"/>
            <a:ext cx="1217536" cy="2022628"/>
          </a:xfrm>
          <a:prstGeom prst="line">
            <a:avLst/>
          </a:prstGeom>
          <a:ln w="952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1EC9CEFF-6DD5-0DB2-BFAF-D6E1F3AEA8B5}"/>
              </a:ext>
            </a:extLst>
          </p:cNvPr>
          <p:cNvCxnSpPr>
            <a:cxnSpLocks/>
          </p:cNvCxnSpPr>
          <p:nvPr/>
        </p:nvCxnSpPr>
        <p:spPr>
          <a:xfrm flipH="1">
            <a:off x="4396306" y="1320525"/>
            <a:ext cx="1217536" cy="2022628"/>
          </a:xfrm>
          <a:prstGeom prst="line">
            <a:avLst/>
          </a:prstGeom>
          <a:ln w="952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05CB3315-9DB0-981C-673F-ED2CF09B3D07}"/>
              </a:ext>
            </a:extLst>
          </p:cNvPr>
          <p:cNvCxnSpPr>
            <a:cxnSpLocks/>
          </p:cNvCxnSpPr>
          <p:nvPr/>
        </p:nvCxnSpPr>
        <p:spPr>
          <a:xfrm flipH="1">
            <a:off x="4492389" y="1389326"/>
            <a:ext cx="1217536" cy="2022628"/>
          </a:xfrm>
          <a:prstGeom prst="line">
            <a:avLst/>
          </a:prstGeom>
          <a:ln w="952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4F3F6B6A-7F54-BF31-0E13-C5513CEA36F8}"/>
              </a:ext>
            </a:extLst>
          </p:cNvPr>
          <p:cNvCxnSpPr>
            <a:cxnSpLocks/>
          </p:cNvCxnSpPr>
          <p:nvPr/>
        </p:nvCxnSpPr>
        <p:spPr>
          <a:xfrm flipH="1">
            <a:off x="4594786" y="1429046"/>
            <a:ext cx="1217536" cy="2022628"/>
          </a:xfrm>
          <a:prstGeom prst="line">
            <a:avLst/>
          </a:prstGeom>
          <a:ln w="952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7160DB45-EC09-42E2-D110-26512CB7D702}"/>
              </a:ext>
            </a:extLst>
          </p:cNvPr>
          <p:cNvCxnSpPr>
            <a:cxnSpLocks/>
          </p:cNvCxnSpPr>
          <p:nvPr/>
        </p:nvCxnSpPr>
        <p:spPr>
          <a:xfrm flipH="1">
            <a:off x="4693790" y="1462670"/>
            <a:ext cx="1217536" cy="2022628"/>
          </a:xfrm>
          <a:prstGeom prst="line">
            <a:avLst/>
          </a:prstGeom>
          <a:ln w="952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27032E9D-1DC1-11EC-2572-90CA89047836}"/>
              </a:ext>
            </a:extLst>
          </p:cNvPr>
          <p:cNvCxnSpPr>
            <a:cxnSpLocks/>
          </p:cNvCxnSpPr>
          <p:nvPr/>
        </p:nvCxnSpPr>
        <p:spPr>
          <a:xfrm flipH="1">
            <a:off x="4789873" y="1531471"/>
            <a:ext cx="1217536" cy="2022628"/>
          </a:xfrm>
          <a:prstGeom prst="line">
            <a:avLst/>
          </a:prstGeom>
          <a:ln w="952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93B82FB9-014B-11DF-CD5F-A3D5979C33A1}"/>
              </a:ext>
            </a:extLst>
          </p:cNvPr>
          <p:cNvCxnSpPr>
            <a:cxnSpLocks/>
          </p:cNvCxnSpPr>
          <p:nvPr/>
        </p:nvCxnSpPr>
        <p:spPr>
          <a:xfrm flipH="1">
            <a:off x="4892270" y="1571191"/>
            <a:ext cx="1217536" cy="2022628"/>
          </a:xfrm>
          <a:prstGeom prst="line">
            <a:avLst/>
          </a:prstGeom>
          <a:ln w="952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81A73293-A48C-2EF2-BFEE-124C94E251AD}"/>
              </a:ext>
            </a:extLst>
          </p:cNvPr>
          <p:cNvCxnSpPr>
            <a:cxnSpLocks/>
          </p:cNvCxnSpPr>
          <p:nvPr/>
        </p:nvCxnSpPr>
        <p:spPr>
          <a:xfrm flipH="1">
            <a:off x="4987984" y="1637877"/>
            <a:ext cx="1217536" cy="2022628"/>
          </a:xfrm>
          <a:prstGeom prst="line">
            <a:avLst/>
          </a:prstGeom>
          <a:ln w="952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ECD62A35-6F35-DA59-CE8B-FD9AE9E305ED}"/>
              </a:ext>
            </a:extLst>
          </p:cNvPr>
          <p:cNvCxnSpPr>
            <a:cxnSpLocks/>
          </p:cNvCxnSpPr>
          <p:nvPr/>
        </p:nvCxnSpPr>
        <p:spPr>
          <a:xfrm flipH="1">
            <a:off x="5084067" y="1706678"/>
            <a:ext cx="1217536" cy="2022628"/>
          </a:xfrm>
          <a:prstGeom prst="line">
            <a:avLst/>
          </a:prstGeom>
          <a:ln w="952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4DDBB2DD-DA01-6736-8AE8-3DFB5F33DB60}"/>
              </a:ext>
            </a:extLst>
          </p:cNvPr>
          <p:cNvCxnSpPr>
            <a:cxnSpLocks/>
          </p:cNvCxnSpPr>
          <p:nvPr/>
        </p:nvCxnSpPr>
        <p:spPr>
          <a:xfrm flipH="1">
            <a:off x="5186464" y="1746398"/>
            <a:ext cx="1217536" cy="2022628"/>
          </a:xfrm>
          <a:prstGeom prst="line">
            <a:avLst/>
          </a:prstGeom>
          <a:ln w="952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8BA278CE-4831-02B5-EB2B-32C37D7432AB}"/>
              </a:ext>
            </a:extLst>
          </p:cNvPr>
          <p:cNvCxnSpPr>
            <a:cxnSpLocks/>
          </p:cNvCxnSpPr>
          <p:nvPr/>
        </p:nvCxnSpPr>
        <p:spPr>
          <a:xfrm flipH="1">
            <a:off x="5686370" y="1880651"/>
            <a:ext cx="1224515" cy="1977034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EBC3DF72-C9E3-349E-A4B3-9400AC3B7558}"/>
              </a:ext>
            </a:extLst>
          </p:cNvPr>
          <p:cNvCxnSpPr>
            <a:cxnSpLocks/>
          </p:cNvCxnSpPr>
          <p:nvPr/>
        </p:nvCxnSpPr>
        <p:spPr>
          <a:xfrm flipH="1">
            <a:off x="5913442" y="1875899"/>
            <a:ext cx="1224515" cy="1977034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764B584F-3B5B-10B9-EDF3-64FE6302EC6B}"/>
              </a:ext>
            </a:extLst>
          </p:cNvPr>
          <p:cNvCxnSpPr>
            <a:cxnSpLocks/>
          </p:cNvCxnSpPr>
          <p:nvPr/>
        </p:nvCxnSpPr>
        <p:spPr>
          <a:xfrm flipH="1">
            <a:off x="6113441" y="1866673"/>
            <a:ext cx="1224515" cy="1977034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2FE52E8C-B046-A368-AFE6-98022633832E}"/>
              </a:ext>
            </a:extLst>
          </p:cNvPr>
          <p:cNvCxnSpPr>
            <a:cxnSpLocks/>
          </p:cNvCxnSpPr>
          <p:nvPr/>
        </p:nvCxnSpPr>
        <p:spPr>
          <a:xfrm flipH="1">
            <a:off x="6342012" y="1875899"/>
            <a:ext cx="1224515" cy="1977034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A528E8E-FC53-4F9A-A63A-31809C795D11}"/>
              </a:ext>
            </a:extLst>
          </p:cNvPr>
          <p:cNvCxnSpPr>
            <a:cxnSpLocks/>
          </p:cNvCxnSpPr>
          <p:nvPr/>
        </p:nvCxnSpPr>
        <p:spPr>
          <a:xfrm flipH="1">
            <a:off x="6542011" y="1866673"/>
            <a:ext cx="1224515" cy="1977034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761909DA-0659-CD61-183E-B964FB922165}"/>
              </a:ext>
            </a:extLst>
          </p:cNvPr>
          <p:cNvCxnSpPr>
            <a:cxnSpLocks/>
          </p:cNvCxnSpPr>
          <p:nvPr/>
        </p:nvCxnSpPr>
        <p:spPr>
          <a:xfrm flipH="1">
            <a:off x="6426996" y="1889873"/>
            <a:ext cx="283890" cy="453288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DC87DF84-80E3-8B5D-95A8-C6160B60AD9E}"/>
              </a:ext>
            </a:extLst>
          </p:cNvPr>
          <p:cNvCxnSpPr>
            <a:cxnSpLocks/>
          </p:cNvCxnSpPr>
          <p:nvPr/>
        </p:nvCxnSpPr>
        <p:spPr>
          <a:xfrm flipH="1">
            <a:off x="6218656" y="2347913"/>
            <a:ext cx="227672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CCEC150F-5950-7938-87BB-483E4205FA4F}"/>
              </a:ext>
            </a:extLst>
          </p:cNvPr>
          <p:cNvCxnSpPr>
            <a:cxnSpLocks/>
          </p:cNvCxnSpPr>
          <p:nvPr/>
        </p:nvCxnSpPr>
        <p:spPr>
          <a:xfrm>
            <a:off x="6122942" y="2184977"/>
            <a:ext cx="106896" cy="158184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0A9BC2C1-7AB3-373D-81CE-980D04E15F24}"/>
              </a:ext>
            </a:extLst>
          </p:cNvPr>
          <p:cNvCxnSpPr>
            <a:cxnSpLocks/>
          </p:cNvCxnSpPr>
          <p:nvPr/>
        </p:nvCxnSpPr>
        <p:spPr>
          <a:xfrm>
            <a:off x="5968806" y="2443215"/>
            <a:ext cx="111131" cy="145388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1EAA517-752F-D199-8C8B-782F23AEB10E}"/>
              </a:ext>
            </a:extLst>
          </p:cNvPr>
          <p:cNvCxnSpPr>
            <a:cxnSpLocks/>
          </p:cNvCxnSpPr>
          <p:nvPr/>
        </p:nvCxnSpPr>
        <p:spPr>
          <a:xfrm flipH="1">
            <a:off x="6061464" y="2581275"/>
            <a:ext cx="227672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9979D57-0140-4F0C-0863-8E77613ADA3E}"/>
              </a:ext>
            </a:extLst>
          </p:cNvPr>
          <p:cNvCxnSpPr>
            <a:cxnSpLocks/>
          </p:cNvCxnSpPr>
          <p:nvPr/>
        </p:nvCxnSpPr>
        <p:spPr>
          <a:xfrm flipH="1">
            <a:off x="5483012" y="2561846"/>
            <a:ext cx="806124" cy="1321581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F7E41474-1D4D-754A-625A-91141116DBA3}"/>
              </a:ext>
            </a:extLst>
          </p:cNvPr>
          <p:cNvCxnSpPr>
            <a:cxnSpLocks/>
          </p:cNvCxnSpPr>
          <p:nvPr/>
        </p:nvCxnSpPr>
        <p:spPr>
          <a:xfrm>
            <a:off x="2692413" y="2265153"/>
            <a:ext cx="304876" cy="20883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3E4D98B1-B6D7-D2D1-DDF4-BBC093617A6E}"/>
              </a:ext>
            </a:extLst>
          </p:cNvPr>
          <p:cNvCxnSpPr>
            <a:cxnSpLocks/>
          </p:cNvCxnSpPr>
          <p:nvPr/>
        </p:nvCxnSpPr>
        <p:spPr>
          <a:xfrm flipV="1">
            <a:off x="2702953" y="1962150"/>
            <a:ext cx="200589" cy="30300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00DAB064-6125-C0BD-A73B-E81C584CB98B}"/>
              </a:ext>
            </a:extLst>
          </p:cNvPr>
          <p:cNvCxnSpPr>
            <a:cxnSpLocks/>
          </p:cNvCxnSpPr>
          <p:nvPr/>
        </p:nvCxnSpPr>
        <p:spPr>
          <a:xfrm flipV="1">
            <a:off x="2709291" y="2113496"/>
            <a:ext cx="473800" cy="16088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698171AC-C6E2-7EE2-A139-9F873370B1B7}"/>
                  </a:ext>
                </a:extLst>
              </p:cNvPr>
              <p:cNvSpPr txBox="1"/>
              <p:nvPr/>
            </p:nvSpPr>
            <p:spPr>
              <a:xfrm>
                <a:off x="2399072" y="2440878"/>
                <a:ext cx="20678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698171AC-C6E2-7EE2-A139-9F873370B1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9072" y="2440878"/>
                <a:ext cx="206788" cy="276999"/>
              </a:xfrm>
              <a:prstGeom prst="rect">
                <a:avLst/>
              </a:prstGeom>
              <a:blipFill>
                <a:blip r:embed="rId5"/>
                <a:stretch>
                  <a:fillRect l="-45455" t="-2174" r="-45455" b="-369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9511E899-B8C2-6441-024A-C039D8A1E266}"/>
                  </a:ext>
                </a:extLst>
              </p:cNvPr>
              <p:cNvSpPr txBox="1"/>
              <p:nvPr/>
            </p:nvSpPr>
            <p:spPr>
              <a:xfrm>
                <a:off x="2951274" y="1804693"/>
                <a:ext cx="20678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9511E899-B8C2-6441-024A-C039D8A1E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1274" y="1804693"/>
                <a:ext cx="206788" cy="276999"/>
              </a:xfrm>
              <a:prstGeom prst="rect">
                <a:avLst/>
              </a:prstGeom>
              <a:blipFill>
                <a:blip r:embed="rId6"/>
                <a:stretch>
                  <a:fillRect l="-41176" t="-2222" r="-44118" b="-4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2F76C018-C831-DA82-4203-D9B05EB34BEE}"/>
                  </a:ext>
                </a:extLst>
              </p:cNvPr>
              <p:cNvSpPr txBox="1"/>
              <p:nvPr/>
            </p:nvSpPr>
            <p:spPr>
              <a:xfrm>
                <a:off x="2157021" y="1861304"/>
                <a:ext cx="20678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2F76C018-C831-DA82-4203-D9B05EB34B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7021" y="1861304"/>
                <a:ext cx="206788" cy="276999"/>
              </a:xfrm>
              <a:prstGeom prst="rect">
                <a:avLst/>
              </a:prstGeom>
              <a:blipFill>
                <a:blip r:embed="rId7"/>
                <a:stretch>
                  <a:fillRect l="-44118" t="-2174" r="-41176" b="-369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31FBA31F-D829-08B8-273A-58A8EEB20613}"/>
              </a:ext>
            </a:extLst>
          </p:cNvPr>
          <p:cNvCxnSpPr>
            <a:cxnSpLocks/>
          </p:cNvCxnSpPr>
          <p:nvPr/>
        </p:nvCxnSpPr>
        <p:spPr>
          <a:xfrm flipV="1">
            <a:off x="5970284" y="2181551"/>
            <a:ext cx="180293" cy="299528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56646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2615</TotalTime>
  <Words>278</Words>
  <Application>Microsoft Office PowerPoint</Application>
  <PresentationFormat>Widescreen</PresentationFormat>
  <Paragraphs>56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Liam Andrew Myhill</dc:creator>
  <cp:lastModifiedBy>Liam Andrew Myhill</cp:lastModifiedBy>
  <cp:revision>4</cp:revision>
  <dcterms:created xsi:type="dcterms:W3CDTF">2026-01-07T16:14:22Z</dcterms:created>
  <dcterms:modified xsi:type="dcterms:W3CDTF">2026-01-09T11:50:19Z</dcterms:modified>
</cp:coreProperties>
</file>