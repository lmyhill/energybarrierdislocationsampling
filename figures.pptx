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156082"/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997C-0483-4DFD-F2B2-B1E5350D7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F7C4F-97DE-D803-B602-CF21AB748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587FE-6045-2CB0-95C6-3757C0DC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DE60-9FCE-4A5F-A00B-1E551C8543A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27342-2967-6F41-D76B-E050BCCD8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81E36-A774-266E-6118-41AC053E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65D63-0117-4237-AF3C-F5932C8D4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0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96BE-BF00-37B0-D42B-E2F019D9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E16F9-1056-D950-C69E-9FBF6B880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66C81-E755-C824-604E-8E8DD6F9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DE60-9FCE-4A5F-A00B-1E551C8543A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FD362-855A-1B30-2726-D0DE3DD6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4DF96-9F1E-20D1-1754-3A9E0A6F8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65D63-0117-4237-AF3C-F5932C8D4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9822-6D73-86FF-C107-9EF54D8F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BCAD8-854D-AAC2-5C96-0D06DDE7E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ED8B3-F397-E10D-C502-9E85440B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DE60-9FCE-4A5F-A00B-1E551C8543A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874D5-1C98-6B1C-E514-CEEED4C40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82E2B-E3E1-E72A-72FA-EFB91939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65D63-0117-4237-AF3C-F5932C8D4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6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FD41-09ED-3065-D1F6-1C4BD774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A417D-8A10-90FC-4712-B1FD195F7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752CC-B038-A81C-B220-7BECC6A52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A47ED-B707-769F-C3B2-359C434A6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DE60-9FCE-4A5F-A00B-1E551C8543A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607D5-5F35-4C24-8C3B-F58A4B97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A7C6E-27A0-BE1B-2569-47D9638BB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65D63-0117-4237-AF3C-F5932C8D4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58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1F3A-0CAB-F8F1-B5F3-1C4201CBF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4B82E-CC29-A9B6-3C86-35B979873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C0DD4-BCB9-D9EA-984B-4628BC1F8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A0CDBB-8BB0-4BEE-6C17-66BD22502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1F5682-8F38-BF7D-5321-651D5C1EC5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260B53-4A98-6649-27FD-4DE8CEDE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DE60-9FCE-4A5F-A00B-1E551C8543A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0D88CA-FAA9-6F5A-7A14-198294ADF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2635B-E2E2-E688-37E8-65C97E24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65D63-0117-4237-AF3C-F5932C8D4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5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14EAE-CC9B-3641-09B3-54262387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F2A7DA-DBF9-2782-4D99-BC59B8D84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DE60-9FCE-4A5F-A00B-1E551C8543A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BCE0F-4133-9314-CF01-EDC73A8C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510E4-603F-31E7-5851-C6ADA732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65D63-0117-4237-AF3C-F5932C8D4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96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9F9C20-408F-E5A9-A1EF-D4CA790F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DE60-9FCE-4A5F-A00B-1E551C8543A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8835B-5E5C-42BF-2BC9-F571AB45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D515C-65DE-4EDC-2174-0B3DCB5F6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65D63-0117-4237-AF3C-F5932C8D4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25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3ACBF-1B3D-19B3-CCEA-17B365407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32F9C-E7E3-6B78-53F1-AADC0218B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B9351-9441-291F-9739-54D9FDD13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B53AA-C7CE-EE9E-A7CB-88E034636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DE60-9FCE-4A5F-A00B-1E551C8543A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E96BF-1D20-A126-00F4-705504E3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6A703-2328-1EC7-940D-B88D697F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65D63-0117-4237-AF3C-F5932C8D4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9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61710-41EA-2A79-AC1B-93164FBB0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9231E-0C04-001C-0055-BAC4C2497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16479-C38C-F8D2-3CDA-CDEF84120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610A4-9367-53CB-45F9-7BAD2BAE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DE60-9FCE-4A5F-A00B-1E551C8543A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E79B3-F410-D52A-C267-FFE160541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84D23-2A49-9A4C-57E0-97A35EDC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65D63-0117-4237-AF3C-F5932C8D4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6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343A-56B2-AC29-51EE-BAFE5342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798BC4-4552-0E7F-A5F7-69A6C66E6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C9256-C4CA-692B-6B65-EEBEFD968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DE60-9FCE-4A5F-A00B-1E551C8543A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DE5D1-42CC-A9D4-FD76-0558D839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C0DC5-4209-A055-72B2-4AA25DAF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65D63-0117-4237-AF3C-F5932C8D4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19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E22D2A-8A5F-974D-A252-6991701E7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F0DF4-2ED6-6EE3-8891-4BD27549E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285E2-C25D-CAFC-E86C-1ADFC1F90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CDE60-9FCE-4A5F-A00B-1E551C8543A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6752B-4C0D-7BC7-46DA-73C73904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17E4B-E2D0-BD33-1456-49049FDA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65D63-0117-4237-AF3C-F5932C8D4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6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7D4AF5-1EC1-E079-C204-7C7BD0D5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028C3-7BAA-702F-6BEB-FEDD60F44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AF49-F2FD-EC40-D3AC-9B74C8024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CDE60-9FCE-4A5F-A00B-1E551C8543A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49EB0-A220-A9D6-58FB-42CE1155A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03AE9-7431-133B-EF9B-E07FD6325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65D63-0117-4237-AF3C-F5932C8D4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58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D38FE523-87F1-1F04-E6B1-5E55BF2C631C}"/>
              </a:ext>
            </a:extLst>
          </p:cNvPr>
          <p:cNvSpPr/>
          <p:nvPr/>
        </p:nvSpPr>
        <p:spPr>
          <a:xfrm>
            <a:off x="2453439" y="442079"/>
            <a:ext cx="8075596" cy="1977027"/>
          </a:xfrm>
          <a:prstGeom prst="parallelogram">
            <a:avLst>
              <a:gd name="adj" fmla="val 70789"/>
            </a:avLst>
          </a:prstGeom>
          <a:solidFill>
            <a:srgbClr val="156082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DE8363-436D-4E0F-A1BC-53D4528F160A}"/>
              </a:ext>
            </a:extLst>
          </p:cNvPr>
          <p:cNvCxnSpPr/>
          <p:nvPr/>
        </p:nvCxnSpPr>
        <p:spPr>
          <a:xfrm flipV="1">
            <a:off x="2453439" y="1676517"/>
            <a:ext cx="0" cy="742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ADC0E3-E8FC-B524-350C-BD7507E4EB9C}"/>
              </a:ext>
            </a:extLst>
          </p:cNvPr>
          <p:cNvCxnSpPr>
            <a:cxnSpLocks/>
          </p:cNvCxnSpPr>
          <p:nvPr/>
        </p:nvCxnSpPr>
        <p:spPr>
          <a:xfrm>
            <a:off x="2453439" y="2419106"/>
            <a:ext cx="51302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13C04A-307C-DF30-318A-57C9F7461D75}"/>
              </a:ext>
            </a:extLst>
          </p:cNvPr>
          <p:cNvCxnSpPr>
            <a:cxnSpLocks/>
          </p:cNvCxnSpPr>
          <p:nvPr/>
        </p:nvCxnSpPr>
        <p:spPr>
          <a:xfrm flipV="1">
            <a:off x="2453439" y="1969125"/>
            <a:ext cx="311859" cy="4499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089167-F48C-580F-7745-9782DA194CD8}"/>
                  </a:ext>
                </a:extLst>
              </p:cNvPr>
              <p:cNvSpPr txBox="1"/>
              <p:nvPr/>
            </p:nvSpPr>
            <p:spPr>
              <a:xfrm>
                <a:off x="2414197" y="2499477"/>
                <a:ext cx="5915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[111]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089167-F48C-580F-7745-9782DA194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197" y="2499477"/>
                <a:ext cx="591509" cy="276999"/>
              </a:xfrm>
              <a:prstGeom prst="rect">
                <a:avLst/>
              </a:prstGeom>
              <a:blipFill>
                <a:blip r:embed="rId2"/>
                <a:stretch>
                  <a:fillRect l="-14433" t="-2222" r="-15464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28B28C-E7B2-9784-5879-0FC16BAEEC80}"/>
                  </a:ext>
                </a:extLst>
              </p:cNvPr>
              <p:cNvSpPr txBox="1"/>
              <p:nvPr/>
            </p:nvSpPr>
            <p:spPr>
              <a:xfrm>
                <a:off x="1804400" y="1830625"/>
                <a:ext cx="5915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[101]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28B28C-E7B2-9784-5879-0FC16BAEE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400" y="1830625"/>
                <a:ext cx="591509" cy="276999"/>
              </a:xfrm>
              <a:prstGeom prst="rect">
                <a:avLst/>
              </a:prstGeom>
              <a:blipFill>
                <a:blip r:embed="rId3"/>
                <a:stretch>
                  <a:fillRect l="-15464" t="-2174" r="-14433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EB2D9B-D6F9-7C62-8DC4-A79C9143CA21}"/>
                  </a:ext>
                </a:extLst>
              </p:cNvPr>
              <p:cNvSpPr txBox="1"/>
              <p:nvPr/>
            </p:nvSpPr>
            <p:spPr>
              <a:xfrm>
                <a:off x="2765298" y="2003608"/>
                <a:ext cx="591509" cy="277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EB2D9B-D6F9-7C62-8DC4-A79C9143C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298" y="2003608"/>
                <a:ext cx="591509" cy="277897"/>
              </a:xfrm>
              <a:prstGeom prst="rect">
                <a:avLst/>
              </a:prstGeom>
              <a:blipFill>
                <a:blip r:embed="rId4"/>
                <a:stretch>
                  <a:fillRect l="-15464" t="-6667" r="-15464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45A3D3-D966-AAC2-00F7-554DECED3BDC}"/>
              </a:ext>
            </a:extLst>
          </p:cNvPr>
          <p:cNvCxnSpPr>
            <a:cxnSpLocks/>
          </p:cNvCxnSpPr>
          <p:nvPr/>
        </p:nvCxnSpPr>
        <p:spPr>
          <a:xfrm flipH="1">
            <a:off x="4314825" y="442078"/>
            <a:ext cx="548202" cy="774572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6006A7-D011-E313-7D3B-40FC8F04CB84}"/>
              </a:ext>
            </a:extLst>
          </p:cNvPr>
          <p:cNvCxnSpPr>
            <a:cxnSpLocks/>
          </p:cNvCxnSpPr>
          <p:nvPr/>
        </p:nvCxnSpPr>
        <p:spPr>
          <a:xfrm flipH="1">
            <a:off x="3498850" y="1430592"/>
            <a:ext cx="688975" cy="988515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8F63B2-6846-813C-81B4-952D394211F9}"/>
              </a:ext>
            </a:extLst>
          </p:cNvPr>
          <p:cNvCxnSpPr>
            <a:cxnSpLocks/>
          </p:cNvCxnSpPr>
          <p:nvPr/>
        </p:nvCxnSpPr>
        <p:spPr>
          <a:xfrm flipH="1">
            <a:off x="4187825" y="1457950"/>
            <a:ext cx="168275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AE6502-9690-FED3-695B-CB4598A6ECF7}"/>
              </a:ext>
            </a:extLst>
          </p:cNvPr>
          <p:cNvCxnSpPr>
            <a:cxnSpLocks/>
          </p:cNvCxnSpPr>
          <p:nvPr/>
        </p:nvCxnSpPr>
        <p:spPr>
          <a:xfrm flipH="1">
            <a:off x="4314824" y="1216650"/>
            <a:ext cx="180976" cy="265832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8074CFF-48A0-F814-BAF3-080D3593D9B0}"/>
              </a:ext>
            </a:extLst>
          </p:cNvPr>
          <p:cNvCxnSpPr>
            <a:cxnSpLocks/>
          </p:cNvCxnSpPr>
          <p:nvPr/>
        </p:nvCxnSpPr>
        <p:spPr>
          <a:xfrm flipH="1">
            <a:off x="4292600" y="1216650"/>
            <a:ext cx="203200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E9E742-26AC-893E-3B52-43CEFBF5BB8B}"/>
              </a:ext>
            </a:extLst>
          </p:cNvPr>
          <p:cNvSpPr txBox="1"/>
          <p:nvPr/>
        </p:nvSpPr>
        <p:spPr>
          <a:xfrm>
            <a:off x="130968" y="72747"/>
            <a:ext cx="1935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Basic Schematic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C3834A5-3EDC-5820-6237-178E7694AF42}"/>
              </a:ext>
            </a:extLst>
          </p:cNvPr>
          <p:cNvCxnSpPr/>
          <p:nvPr/>
        </p:nvCxnSpPr>
        <p:spPr>
          <a:xfrm>
            <a:off x="3714750" y="638174"/>
            <a:ext cx="666750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A2D5565-D1F9-C22C-7D06-12DC75BEFF71}"/>
              </a:ext>
            </a:extLst>
          </p:cNvPr>
          <p:cNvCxnSpPr/>
          <p:nvPr/>
        </p:nvCxnSpPr>
        <p:spPr>
          <a:xfrm>
            <a:off x="3576636" y="838199"/>
            <a:ext cx="666750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7ACBA8B-3159-6DCE-3D92-4BDACF9FF056}"/>
              </a:ext>
            </a:extLst>
          </p:cNvPr>
          <p:cNvCxnSpPr/>
          <p:nvPr/>
        </p:nvCxnSpPr>
        <p:spPr>
          <a:xfrm>
            <a:off x="3443286" y="1028699"/>
            <a:ext cx="666750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8EF2FBA-EF5A-CDF9-0358-970C5AB35381}"/>
              </a:ext>
            </a:extLst>
          </p:cNvPr>
          <p:cNvCxnSpPr/>
          <p:nvPr/>
        </p:nvCxnSpPr>
        <p:spPr>
          <a:xfrm>
            <a:off x="3305179" y="1216650"/>
            <a:ext cx="666750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A2D587D-EA9B-CA0A-332A-9944963D6F84}"/>
              </a:ext>
            </a:extLst>
          </p:cNvPr>
          <p:cNvCxnSpPr/>
          <p:nvPr/>
        </p:nvCxnSpPr>
        <p:spPr>
          <a:xfrm>
            <a:off x="3152775" y="1437568"/>
            <a:ext cx="666750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CC55259-15DE-2996-C87E-C0373CA6EB13}"/>
              </a:ext>
            </a:extLst>
          </p:cNvPr>
          <p:cNvCxnSpPr/>
          <p:nvPr/>
        </p:nvCxnSpPr>
        <p:spPr>
          <a:xfrm>
            <a:off x="2986654" y="1676517"/>
            <a:ext cx="666750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698A4E-9B9B-F1B7-630E-94F64552ACA6}"/>
              </a:ext>
            </a:extLst>
          </p:cNvPr>
          <p:cNvCxnSpPr/>
          <p:nvPr/>
        </p:nvCxnSpPr>
        <p:spPr>
          <a:xfrm>
            <a:off x="2779587" y="1950193"/>
            <a:ext cx="666750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465B71-720C-F324-2B6B-7FCA9E995613}"/>
              </a:ext>
            </a:extLst>
          </p:cNvPr>
          <p:cNvCxnSpPr/>
          <p:nvPr/>
        </p:nvCxnSpPr>
        <p:spPr>
          <a:xfrm>
            <a:off x="2542491" y="2281505"/>
            <a:ext cx="666750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DBA7344-3879-3031-1F03-7E55F0D481BF}"/>
              </a:ext>
            </a:extLst>
          </p:cNvPr>
          <p:cNvCxnSpPr>
            <a:cxnSpLocks/>
          </p:cNvCxnSpPr>
          <p:nvPr/>
        </p:nvCxnSpPr>
        <p:spPr>
          <a:xfrm flipH="1">
            <a:off x="3498850" y="442078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CD455EF-9DBA-5E3B-D2BC-BA9CE3CFED5A}"/>
              </a:ext>
            </a:extLst>
          </p:cNvPr>
          <p:cNvCxnSpPr>
            <a:cxnSpLocks/>
          </p:cNvCxnSpPr>
          <p:nvPr/>
        </p:nvCxnSpPr>
        <p:spPr>
          <a:xfrm flipH="1">
            <a:off x="3665802" y="442077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55049B1-8582-60F1-34FB-A07E1E1CECD3}"/>
              </a:ext>
            </a:extLst>
          </p:cNvPr>
          <p:cNvCxnSpPr>
            <a:cxnSpLocks/>
          </p:cNvCxnSpPr>
          <p:nvPr/>
        </p:nvCxnSpPr>
        <p:spPr>
          <a:xfrm flipH="1">
            <a:off x="3864282" y="442078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0F347AE-A527-1282-1FD7-3DD1D1A54BED}"/>
              </a:ext>
            </a:extLst>
          </p:cNvPr>
          <p:cNvCxnSpPr>
            <a:cxnSpLocks/>
          </p:cNvCxnSpPr>
          <p:nvPr/>
        </p:nvCxnSpPr>
        <p:spPr>
          <a:xfrm flipH="1">
            <a:off x="4031234" y="442077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FFBBE74-9D45-85EC-795A-1E18AB4E5EA3}"/>
              </a:ext>
            </a:extLst>
          </p:cNvPr>
          <p:cNvCxnSpPr>
            <a:cxnSpLocks/>
          </p:cNvCxnSpPr>
          <p:nvPr/>
        </p:nvCxnSpPr>
        <p:spPr>
          <a:xfrm flipH="1">
            <a:off x="4192925" y="442077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D0EE982-7942-F85E-8343-507B434BBCD8}"/>
              </a:ext>
            </a:extLst>
          </p:cNvPr>
          <p:cNvCxnSpPr>
            <a:cxnSpLocks/>
          </p:cNvCxnSpPr>
          <p:nvPr/>
        </p:nvCxnSpPr>
        <p:spPr>
          <a:xfrm flipH="1">
            <a:off x="4359877" y="442076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CD134E7-73BA-A6D3-4510-AE6DD5877DD8}"/>
              </a:ext>
            </a:extLst>
          </p:cNvPr>
          <p:cNvCxnSpPr>
            <a:cxnSpLocks/>
          </p:cNvCxnSpPr>
          <p:nvPr/>
        </p:nvCxnSpPr>
        <p:spPr>
          <a:xfrm flipH="1">
            <a:off x="4558357" y="442077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FA5936-A5F2-0AB6-3624-D80183B866F2}"/>
              </a:ext>
            </a:extLst>
          </p:cNvPr>
          <p:cNvCxnSpPr>
            <a:cxnSpLocks/>
          </p:cNvCxnSpPr>
          <p:nvPr/>
        </p:nvCxnSpPr>
        <p:spPr>
          <a:xfrm flipH="1">
            <a:off x="4725309" y="442076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9D6DD1E-F4F7-C3C5-2BE7-6C1A672A0ED6}"/>
              </a:ext>
            </a:extLst>
          </p:cNvPr>
          <p:cNvCxnSpPr>
            <a:cxnSpLocks/>
          </p:cNvCxnSpPr>
          <p:nvPr/>
        </p:nvCxnSpPr>
        <p:spPr>
          <a:xfrm flipH="1">
            <a:off x="4869913" y="442074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1DB0355-ED88-7BE4-A3A0-2F22EFFE7324}"/>
              </a:ext>
            </a:extLst>
          </p:cNvPr>
          <p:cNvCxnSpPr>
            <a:cxnSpLocks/>
          </p:cNvCxnSpPr>
          <p:nvPr/>
        </p:nvCxnSpPr>
        <p:spPr>
          <a:xfrm flipH="1">
            <a:off x="5036865" y="442073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C3857AA-5927-2BD1-0F2F-597A1EC0C2FD}"/>
              </a:ext>
            </a:extLst>
          </p:cNvPr>
          <p:cNvCxnSpPr>
            <a:cxnSpLocks/>
          </p:cNvCxnSpPr>
          <p:nvPr/>
        </p:nvCxnSpPr>
        <p:spPr>
          <a:xfrm flipH="1">
            <a:off x="5235345" y="442074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16CF6C2-2774-5408-EC21-F2AF17AD2948}"/>
              </a:ext>
            </a:extLst>
          </p:cNvPr>
          <p:cNvCxnSpPr>
            <a:cxnSpLocks/>
          </p:cNvCxnSpPr>
          <p:nvPr/>
        </p:nvCxnSpPr>
        <p:spPr>
          <a:xfrm flipH="1">
            <a:off x="5402297" y="442073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CD1B5EC-A7E1-42A1-F0BA-D741ACFC8E1C}"/>
              </a:ext>
            </a:extLst>
          </p:cNvPr>
          <p:cNvCxnSpPr>
            <a:cxnSpLocks/>
          </p:cNvCxnSpPr>
          <p:nvPr/>
        </p:nvCxnSpPr>
        <p:spPr>
          <a:xfrm flipH="1">
            <a:off x="5563988" y="442073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6051EE6-5BD7-E448-EBD5-ED118A140D1B}"/>
              </a:ext>
            </a:extLst>
          </p:cNvPr>
          <p:cNvCxnSpPr>
            <a:cxnSpLocks/>
          </p:cNvCxnSpPr>
          <p:nvPr/>
        </p:nvCxnSpPr>
        <p:spPr>
          <a:xfrm flipH="1">
            <a:off x="5730940" y="442072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63815C7-602E-4449-5472-752159F3C502}"/>
              </a:ext>
            </a:extLst>
          </p:cNvPr>
          <p:cNvCxnSpPr>
            <a:cxnSpLocks/>
          </p:cNvCxnSpPr>
          <p:nvPr/>
        </p:nvCxnSpPr>
        <p:spPr>
          <a:xfrm flipH="1">
            <a:off x="5929420" y="442073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DC324B7-6E0F-3BBB-1C5F-6D3802DF1AF9}"/>
              </a:ext>
            </a:extLst>
          </p:cNvPr>
          <p:cNvCxnSpPr>
            <a:cxnSpLocks/>
          </p:cNvCxnSpPr>
          <p:nvPr/>
        </p:nvCxnSpPr>
        <p:spPr>
          <a:xfrm flipH="1">
            <a:off x="6096372" y="442072"/>
            <a:ext cx="1364177" cy="1977028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280F9BC-B88D-82AE-3FB3-7520F7631EAF}"/>
                  </a:ext>
                </a:extLst>
              </p:cNvPr>
              <p:cNvSpPr txBox="1"/>
              <p:nvPr/>
            </p:nvSpPr>
            <p:spPr>
              <a:xfrm>
                <a:off x="153006" y="3036488"/>
                <a:ext cx="342363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1D line of total Length NL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Nodes indexed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Segments indexed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280F9BC-B88D-82AE-3FB3-7520F7631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06" y="3036488"/>
                <a:ext cx="3423630" cy="923330"/>
              </a:xfrm>
              <a:prstGeom prst="rect">
                <a:avLst/>
              </a:prstGeom>
              <a:blipFill>
                <a:blip r:embed="rId5"/>
                <a:stretch>
                  <a:fillRect l="-1068" t="-2632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70EB3927-38E5-3F5E-D878-2B70BDA8D75D}"/>
              </a:ext>
            </a:extLst>
          </p:cNvPr>
          <p:cNvSpPr txBox="1"/>
          <p:nvPr/>
        </p:nvSpPr>
        <p:spPr>
          <a:xfrm>
            <a:off x="3576636" y="3036488"/>
            <a:ext cx="3201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 Stochastic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Nucleation at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Propagation across segments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86FFED4-5C95-507B-C95C-AE08D246EFAB}"/>
                  </a:ext>
                </a:extLst>
              </p:cNvPr>
              <p:cNvSpPr txBox="1"/>
              <p:nvPr/>
            </p:nvSpPr>
            <p:spPr>
              <a:xfrm>
                <a:off x="689282" y="4084048"/>
                <a:ext cx="2595134" cy="37375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86FFED4-5C95-507B-C95C-AE08D246E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82" y="4084048"/>
                <a:ext cx="2595134" cy="373757"/>
              </a:xfrm>
              <a:prstGeom prst="rect">
                <a:avLst/>
              </a:prstGeom>
              <a:blipFill>
                <a:blip r:embed="rId6"/>
                <a:stretch>
                  <a:fillRect b="-7937"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C5A59DA-9626-8552-74DB-D80A3F169087}"/>
                  </a:ext>
                </a:extLst>
              </p:cNvPr>
              <p:cNvSpPr txBox="1"/>
              <p:nvPr/>
            </p:nvSpPr>
            <p:spPr>
              <a:xfrm>
                <a:off x="271174" y="6002530"/>
                <a:ext cx="4286045" cy="7282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𝐸𝑥𝑝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C5A59DA-9626-8552-74DB-D80A3F169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74" y="6002530"/>
                <a:ext cx="4286045" cy="7282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E737976-4B96-12D6-9A9A-7F88F15F4677}"/>
                  </a:ext>
                </a:extLst>
              </p:cNvPr>
              <p:cNvSpPr txBox="1"/>
              <p:nvPr/>
            </p:nvSpPr>
            <p:spPr>
              <a:xfrm>
                <a:off x="426661" y="4577199"/>
                <a:ext cx="2998770" cy="1826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nucleation barrier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attempt time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applied stress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activation volume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E737976-4B96-12D6-9A9A-7F88F15F4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61" y="4577199"/>
                <a:ext cx="2998770" cy="1826397"/>
              </a:xfrm>
              <a:prstGeom prst="rect">
                <a:avLst/>
              </a:prstGeom>
              <a:blipFill>
                <a:blip r:embed="rId8"/>
                <a:stretch>
                  <a:fillRect l="-1423" r="-3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7C84F8A-BA28-25C1-21B5-71ED03F70F08}"/>
                  </a:ext>
                </a:extLst>
              </p:cNvPr>
              <p:cNvSpPr txBox="1"/>
              <p:nvPr/>
            </p:nvSpPr>
            <p:spPr>
              <a:xfrm>
                <a:off x="4703113" y="6002530"/>
                <a:ext cx="3006849" cy="6890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7C84F8A-BA28-25C1-21B5-71ED03F70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113" y="6002530"/>
                <a:ext cx="3006849" cy="6890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C023E10A-A07E-081A-1941-9DDBDB603D33}"/>
              </a:ext>
            </a:extLst>
          </p:cNvPr>
          <p:cNvSpPr txBox="1"/>
          <p:nvPr/>
        </p:nvSpPr>
        <p:spPr>
          <a:xfrm>
            <a:off x="3829067" y="4387602"/>
            <a:ext cx="4267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Series resistance behavior: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Slow nucleation or slow propagation dominates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Barrier distributions matter more than 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E12CE82-4182-048D-7F7C-A3890F45B877}"/>
                  </a:ext>
                </a:extLst>
              </p:cNvPr>
              <p:cNvSpPr txBox="1"/>
              <p:nvPr/>
            </p:nvSpPr>
            <p:spPr>
              <a:xfrm>
                <a:off x="8110469" y="4883858"/>
                <a:ext cx="3294235" cy="77251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lgDash"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&gt;+&lt;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den>
                                  </m:f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E12CE82-4182-048D-7F7C-A3890F45B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0469" y="4883858"/>
                <a:ext cx="3294235" cy="7725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  <a:prstDash val="lg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20BE897-5336-75B2-F463-A2C8AA2F868D}"/>
                  </a:ext>
                </a:extLst>
              </p:cNvPr>
              <p:cNvSpPr txBox="1"/>
              <p:nvPr/>
            </p:nvSpPr>
            <p:spPr>
              <a:xfrm>
                <a:off x="8042757" y="6002530"/>
                <a:ext cx="3429657" cy="71731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lgDash"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20BE897-5336-75B2-F463-A2C8AA2F8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757" y="6002530"/>
                <a:ext cx="3429657" cy="71731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  <a:prstDash val="lg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>
            <a:extLst>
              <a:ext uri="{FF2B5EF4-FFF2-40B4-BE49-F238E27FC236}">
                <a16:creationId xmlns:a16="http://schemas.microsoft.com/office/drawing/2014/main" id="{7F0A0D8C-9682-4E44-40D9-32F8FA720D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614" y="2839323"/>
            <a:ext cx="313372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15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521A27B8-D6DB-7D45-461A-D6435CBB5ED8}"/>
              </a:ext>
            </a:extLst>
          </p:cNvPr>
          <p:cNvSpPr/>
          <p:nvPr/>
        </p:nvSpPr>
        <p:spPr>
          <a:xfrm>
            <a:off x="2643939" y="442080"/>
            <a:ext cx="8075596" cy="1977027"/>
          </a:xfrm>
          <a:prstGeom prst="parallelogram">
            <a:avLst>
              <a:gd name="adj" fmla="val 70789"/>
            </a:avLst>
          </a:prstGeom>
          <a:solidFill>
            <a:srgbClr val="156082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443460-A66B-D63B-F953-D109C1155B55}"/>
              </a:ext>
            </a:extLst>
          </p:cNvPr>
          <p:cNvCxnSpPr/>
          <p:nvPr/>
        </p:nvCxnSpPr>
        <p:spPr>
          <a:xfrm flipV="1">
            <a:off x="2643939" y="1676518"/>
            <a:ext cx="0" cy="742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7FDE9B-4013-99CE-6AC3-8CECBBEA8AFA}"/>
              </a:ext>
            </a:extLst>
          </p:cNvPr>
          <p:cNvCxnSpPr>
            <a:cxnSpLocks/>
          </p:cNvCxnSpPr>
          <p:nvPr/>
        </p:nvCxnSpPr>
        <p:spPr>
          <a:xfrm>
            <a:off x="2643939" y="2419107"/>
            <a:ext cx="51302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E394A5-0592-249F-D2D2-FADF45FF2BF4}"/>
              </a:ext>
            </a:extLst>
          </p:cNvPr>
          <p:cNvCxnSpPr>
            <a:cxnSpLocks/>
          </p:cNvCxnSpPr>
          <p:nvPr/>
        </p:nvCxnSpPr>
        <p:spPr>
          <a:xfrm flipV="1">
            <a:off x="2643939" y="1969126"/>
            <a:ext cx="311859" cy="4499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D68A441-30DE-222F-5BA8-0A4E99D29F6B}"/>
                  </a:ext>
                </a:extLst>
              </p:cNvPr>
              <p:cNvSpPr txBox="1"/>
              <p:nvPr/>
            </p:nvSpPr>
            <p:spPr>
              <a:xfrm>
                <a:off x="2604697" y="2499478"/>
                <a:ext cx="5915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[111]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D68A441-30DE-222F-5BA8-0A4E99D29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697" y="2499478"/>
                <a:ext cx="591509" cy="276999"/>
              </a:xfrm>
              <a:prstGeom prst="rect">
                <a:avLst/>
              </a:prstGeom>
              <a:blipFill>
                <a:blip r:embed="rId2"/>
                <a:stretch>
                  <a:fillRect l="-14433" t="-2222" r="-15464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AE6F6D-494D-565F-59B5-4B2D3FEAD57E}"/>
                  </a:ext>
                </a:extLst>
              </p:cNvPr>
              <p:cNvSpPr txBox="1"/>
              <p:nvPr/>
            </p:nvSpPr>
            <p:spPr>
              <a:xfrm>
                <a:off x="1994900" y="1830626"/>
                <a:ext cx="5915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[101]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AE6F6D-494D-565F-59B5-4B2D3FEAD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900" y="1830626"/>
                <a:ext cx="591509" cy="276999"/>
              </a:xfrm>
              <a:prstGeom prst="rect">
                <a:avLst/>
              </a:prstGeom>
              <a:blipFill>
                <a:blip r:embed="rId3"/>
                <a:stretch>
                  <a:fillRect l="-14433" t="-2174" r="-15464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C83845-4699-D31E-F8E3-35D0FA2A14CD}"/>
                  </a:ext>
                </a:extLst>
              </p:cNvPr>
              <p:cNvSpPr txBox="1"/>
              <p:nvPr/>
            </p:nvSpPr>
            <p:spPr>
              <a:xfrm>
                <a:off x="2955798" y="2003609"/>
                <a:ext cx="591509" cy="277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C83845-4699-D31E-F8E3-35D0FA2A1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798" y="2003609"/>
                <a:ext cx="591509" cy="277897"/>
              </a:xfrm>
              <a:prstGeom prst="rect">
                <a:avLst/>
              </a:prstGeom>
              <a:blipFill>
                <a:blip r:embed="rId4"/>
                <a:stretch>
                  <a:fillRect l="-15464" t="-6667" r="-15464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3D8A6F-E458-A43E-AE9A-28359905C99F}"/>
              </a:ext>
            </a:extLst>
          </p:cNvPr>
          <p:cNvCxnSpPr>
            <a:cxnSpLocks/>
          </p:cNvCxnSpPr>
          <p:nvPr/>
        </p:nvCxnSpPr>
        <p:spPr>
          <a:xfrm flipH="1">
            <a:off x="4505325" y="442079"/>
            <a:ext cx="548202" cy="774572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8E4A48-56E5-F257-F47F-DC2AB3B454FC}"/>
              </a:ext>
            </a:extLst>
          </p:cNvPr>
          <p:cNvCxnSpPr>
            <a:cxnSpLocks/>
          </p:cNvCxnSpPr>
          <p:nvPr/>
        </p:nvCxnSpPr>
        <p:spPr>
          <a:xfrm flipH="1">
            <a:off x="3689350" y="1430593"/>
            <a:ext cx="688975" cy="988515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63585B-D72F-06CF-369C-9046299A2778}"/>
              </a:ext>
            </a:extLst>
          </p:cNvPr>
          <p:cNvCxnSpPr>
            <a:cxnSpLocks/>
          </p:cNvCxnSpPr>
          <p:nvPr/>
        </p:nvCxnSpPr>
        <p:spPr>
          <a:xfrm flipH="1">
            <a:off x="4378325" y="1457951"/>
            <a:ext cx="168275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426B629-B68A-8108-8107-610AE451336F}"/>
              </a:ext>
            </a:extLst>
          </p:cNvPr>
          <p:cNvCxnSpPr>
            <a:cxnSpLocks/>
          </p:cNvCxnSpPr>
          <p:nvPr/>
        </p:nvCxnSpPr>
        <p:spPr>
          <a:xfrm flipH="1">
            <a:off x="4505324" y="1216651"/>
            <a:ext cx="180976" cy="265832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FAFEC0-AB97-C5CD-9E8B-50955A048097}"/>
              </a:ext>
            </a:extLst>
          </p:cNvPr>
          <p:cNvCxnSpPr>
            <a:cxnSpLocks/>
          </p:cNvCxnSpPr>
          <p:nvPr/>
        </p:nvCxnSpPr>
        <p:spPr>
          <a:xfrm flipH="1">
            <a:off x="4483100" y="1216651"/>
            <a:ext cx="203200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6B08C0-B653-910E-2F0B-99179611EAEE}"/>
              </a:ext>
            </a:extLst>
          </p:cNvPr>
          <p:cNvCxnSpPr/>
          <p:nvPr/>
        </p:nvCxnSpPr>
        <p:spPr>
          <a:xfrm flipV="1">
            <a:off x="5053527" y="140326"/>
            <a:ext cx="206559" cy="3017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DD372A5-753A-C034-FDE2-B42A5E8CF337}"/>
              </a:ext>
            </a:extLst>
          </p:cNvPr>
          <p:cNvCxnSpPr>
            <a:cxnSpLocks/>
          </p:cNvCxnSpPr>
          <p:nvPr/>
        </p:nvCxnSpPr>
        <p:spPr>
          <a:xfrm flipH="1">
            <a:off x="3491960" y="2419107"/>
            <a:ext cx="197390" cy="2815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1A6D141-585D-CB53-EB33-06B3AD8C6157}"/>
                  </a:ext>
                </a:extLst>
              </p:cNvPr>
              <p:cNvSpPr txBox="1"/>
              <p:nvPr/>
            </p:nvSpPr>
            <p:spPr>
              <a:xfrm>
                <a:off x="5314950" y="0"/>
                <a:ext cx="354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1A6D141-585D-CB53-EB33-06B3AD8C6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950" y="0"/>
                <a:ext cx="354841" cy="276999"/>
              </a:xfrm>
              <a:prstGeom prst="rect">
                <a:avLst/>
              </a:prstGeom>
              <a:blipFill>
                <a:blip r:embed="rId5"/>
                <a:stretch>
                  <a:fillRect l="-17241" r="-517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7BA75C0-21E9-7865-A91D-FF0C2BC915FB}"/>
                  </a:ext>
                </a:extLst>
              </p:cNvPr>
              <p:cNvSpPr txBox="1"/>
              <p:nvPr/>
            </p:nvSpPr>
            <p:spPr>
              <a:xfrm>
                <a:off x="3590655" y="2550581"/>
                <a:ext cx="354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7BA75C0-21E9-7865-A91D-FF0C2BC91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655" y="2550581"/>
                <a:ext cx="354841" cy="276999"/>
              </a:xfrm>
              <a:prstGeom prst="rect">
                <a:avLst/>
              </a:prstGeom>
              <a:blipFill>
                <a:blip r:embed="rId6"/>
                <a:stretch>
                  <a:fillRect l="-15517" r="-5172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F76B8B6-4176-6867-EA4E-8BB02FDA0C55}"/>
                  </a:ext>
                </a:extLst>
              </p:cNvPr>
              <p:cNvSpPr txBox="1"/>
              <p:nvPr/>
            </p:nvSpPr>
            <p:spPr>
              <a:xfrm>
                <a:off x="1611630" y="3218806"/>
                <a:ext cx="8632620" cy="1544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 line tension affects the nucleation barrier according to: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absolute curvature of the dislocation line (taken by finite difference)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F76B8B6-4176-6867-EA4E-8BB02FDA0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630" y="3218806"/>
                <a:ext cx="8632620" cy="1544910"/>
              </a:xfrm>
              <a:prstGeom prst="rect">
                <a:avLst/>
              </a:prstGeom>
              <a:blipFill>
                <a:blip r:embed="rId7"/>
                <a:stretch>
                  <a:fillRect l="-565" t="-1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9C92C297-5861-124F-0EB1-80F3E772AC31}"/>
              </a:ext>
            </a:extLst>
          </p:cNvPr>
          <p:cNvSpPr txBox="1"/>
          <p:nvPr/>
        </p:nvSpPr>
        <p:spPr>
          <a:xfrm>
            <a:off x="2058202" y="5154942"/>
            <a:ext cx="8075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Line tension increases the nucleation barrier at positions where the dislocation line is curved. More curved regions require higher activation energy to nucleate, penalizing kinked configurations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C025F4-A139-A484-2B60-37B0E1DEBE94}"/>
              </a:ext>
            </a:extLst>
          </p:cNvPr>
          <p:cNvSpPr txBox="1"/>
          <p:nvPr/>
        </p:nvSpPr>
        <p:spPr>
          <a:xfrm>
            <a:off x="130968" y="72747"/>
            <a:ext cx="1480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Line Tension</a:t>
            </a:r>
          </a:p>
        </p:txBody>
      </p:sp>
    </p:spTree>
    <p:extLst>
      <p:ext uri="{BB962C8B-B14F-4D97-AF65-F5344CB8AC3E}">
        <p14:creationId xmlns:p14="http://schemas.microsoft.com/office/powerpoint/2010/main" val="141380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F4E7A3C-51DB-6ED4-0DCB-6A4C0B19B183}"/>
              </a:ext>
            </a:extLst>
          </p:cNvPr>
          <p:cNvSpPr/>
          <p:nvPr/>
        </p:nvSpPr>
        <p:spPr>
          <a:xfrm rot="1856382">
            <a:off x="5735683" y="2383617"/>
            <a:ext cx="2679768" cy="2341253"/>
          </a:xfrm>
          <a:prstGeom prst="rect">
            <a:avLst/>
          </a:prstGeom>
          <a:solidFill>
            <a:srgbClr val="E97132">
              <a:alpha val="20000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3A0EB1-978B-950E-4D77-DD8BC8F58FFA}"/>
              </a:ext>
            </a:extLst>
          </p:cNvPr>
          <p:cNvSpPr txBox="1"/>
          <p:nvPr/>
        </p:nvSpPr>
        <p:spPr>
          <a:xfrm>
            <a:off x="130968" y="72747"/>
            <a:ext cx="2240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Cross-kinking (TBD)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4CE4658E-3D91-D0D7-5435-ECC075B26C0D}"/>
              </a:ext>
            </a:extLst>
          </p:cNvPr>
          <p:cNvSpPr/>
          <p:nvPr/>
        </p:nvSpPr>
        <p:spPr>
          <a:xfrm>
            <a:off x="2196264" y="1889880"/>
            <a:ext cx="8075596" cy="1977027"/>
          </a:xfrm>
          <a:prstGeom prst="parallelogram">
            <a:avLst>
              <a:gd name="adj" fmla="val 70789"/>
            </a:avLst>
          </a:prstGeom>
          <a:solidFill>
            <a:srgbClr val="156082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BCD1BF-8D09-27E3-CDA9-E39020A37A7F}"/>
              </a:ext>
            </a:extLst>
          </p:cNvPr>
          <p:cNvCxnSpPr/>
          <p:nvPr/>
        </p:nvCxnSpPr>
        <p:spPr>
          <a:xfrm flipV="1">
            <a:off x="2196264" y="3124318"/>
            <a:ext cx="0" cy="742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D4D320-66B8-ACDA-6A4A-48A54ED53A08}"/>
              </a:ext>
            </a:extLst>
          </p:cNvPr>
          <p:cNvCxnSpPr>
            <a:cxnSpLocks/>
          </p:cNvCxnSpPr>
          <p:nvPr/>
        </p:nvCxnSpPr>
        <p:spPr>
          <a:xfrm>
            <a:off x="2196264" y="3866907"/>
            <a:ext cx="51302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7BAFEC-2B41-B1C8-32DB-28029AE82A50}"/>
              </a:ext>
            </a:extLst>
          </p:cNvPr>
          <p:cNvCxnSpPr>
            <a:cxnSpLocks/>
          </p:cNvCxnSpPr>
          <p:nvPr/>
        </p:nvCxnSpPr>
        <p:spPr>
          <a:xfrm flipV="1">
            <a:off x="2196264" y="3416926"/>
            <a:ext cx="311859" cy="4499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31807F-7082-F1AF-98A2-DDD66776A754}"/>
                  </a:ext>
                </a:extLst>
              </p:cNvPr>
              <p:cNvSpPr txBox="1"/>
              <p:nvPr/>
            </p:nvSpPr>
            <p:spPr>
              <a:xfrm>
                <a:off x="2157022" y="3947278"/>
                <a:ext cx="5915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[111]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31807F-7082-F1AF-98A2-DDD66776A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022" y="3947278"/>
                <a:ext cx="591509" cy="276999"/>
              </a:xfrm>
              <a:prstGeom prst="rect">
                <a:avLst/>
              </a:prstGeom>
              <a:blipFill>
                <a:blip r:embed="rId2"/>
                <a:stretch>
                  <a:fillRect l="-15464" t="-4444" r="-14433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C1F296-63D6-6422-FE0B-69C596BBD038}"/>
                  </a:ext>
                </a:extLst>
              </p:cNvPr>
              <p:cNvSpPr txBox="1"/>
              <p:nvPr/>
            </p:nvSpPr>
            <p:spPr>
              <a:xfrm>
                <a:off x="1547225" y="3278426"/>
                <a:ext cx="5915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[101]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C1F296-63D6-6422-FE0B-69C596BBD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225" y="3278426"/>
                <a:ext cx="591509" cy="276999"/>
              </a:xfrm>
              <a:prstGeom prst="rect">
                <a:avLst/>
              </a:prstGeom>
              <a:blipFill>
                <a:blip r:embed="rId3"/>
                <a:stretch>
                  <a:fillRect l="-15464" t="-4444" r="-14433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A1B44B-641D-F724-7B24-09B1902AD5A7}"/>
                  </a:ext>
                </a:extLst>
              </p:cNvPr>
              <p:cNvSpPr txBox="1"/>
              <p:nvPr/>
            </p:nvSpPr>
            <p:spPr>
              <a:xfrm>
                <a:off x="2508123" y="3451409"/>
                <a:ext cx="591509" cy="277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A1B44B-641D-F724-7B24-09B1902AD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123" y="3451409"/>
                <a:ext cx="591509" cy="277897"/>
              </a:xfrm>
              <a:prstGeom prst="rect">
                <a:avLst/>
              </a:prstGeom>
              <a:blipFill>
                <a:blip r:embed="rId4"/>
                <a:stretch>
                  <a:fillRect l="-14433" t="-4348" r="-16495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8326C9-7C0C-F254-9323-1E6A096B922E}"/>
              </a:ext>
            </a:extLst>
          </p:cNvPr>
          <p:cNvCxnSpPr>
            <a:cxnSpLocks/>
          </p:cNvCxnSpPr>
          <p:nvPr/>
        </p:nvCxnSpPr>
        <p:spPr>
          <a:xfrm flipV="1">
            <a:off x="5324475" y="1861304"/>
            <a:ext cx="1198728" cy="200560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9EF249B-EC5C-14C3-40A4-3283E73B73AF}"/>
              </a:ext>
            </a:extLst>
          </p:cNvPr>
          <p:cNvSpPr/>
          <p:nvPr/>
        </p:nvSpPr>
        <p:spPr>
          <a:xfrm rot="1856382">
            <a:off x="3082250" y="908680"/>
            <a:ext cx="3048000" cy="2341253"/>
          </a:xfrm>
          <a:prstGeom prst="rect">
            <a:avLst/>
          </a:prstGeom>
          <a:solidFill>
            <a:srgbClr val="E97132">
              <a:alpha val="20000"/>
            </a:srgb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676CC13-4411-948A-7CEA-621C1CC2D334}"/>
              </a:ext>
            </a:extLst>
          </p:cNvPr>
          <p:cNvCxnSpPr>
            <a:cxnSpLocks/>
          </p:cNvCxnSpPr>
          <p:nvPr/>
        </p:nvCxnSpPr>
        <p:spPr>
          <a:xfrm flipH="1">
            <a:off x="5486371" y="1889877"/>
            <a:ext cx="1224515" cy="1977034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B222344-0BA7-8390-8CA7-F75641538F45}"/>
              </a:ext>
            </a:extLst>
          </p:cNvPr>
          <p:cNvCxnSpPr>
            <a:cxnSpLocks/>
          </p:cNvCxnSpPr>
          <p:nvPr/>
        </p:nvCxnSpPr>
        <p:spPr>
          <a:xfrm flipH="1">
            <a:off x="4102112" y="1145318"/>
            <a:ext cx="1217536" cy="2022628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16CE75D-4804-7724-F153-BFA9C8DC5E56}"/>
              </a:ext>
            </a:extLst>
          </p:cNvPr>
          <p:cNvCxnSpPr>
            <a:cxnSpLocks/>
          </p:cNvCxnSpPr>
          <p:nvPr/>
        </p:nvCxnSpPr>
        <p:spPr>
          <a:xfrm flipH="1">
            <a:off x="4198195" y="1214119"/>
            <a:ext cx="1217536" cy="2022628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00C2AD7-F261-399E-1938-B85C4EAEB47E}"/>
              </a:ext>
            </a:extLst>
          </p:cNvPr>
          <p:cNvCxnSpPr>
            <a:cxnSpLocks/>
          </p:cNvCxnSpPr>
          <p:nvPr/>
        </p:nvCxnSpPr>
        <p:spPr>
          <a:xfrm flipH="1">
            <a:off x="4300592" y="1253839"/>
            <a:ext cx="1217536" cy="2022628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EC9CEFF-6DD5-0DB2-BFAF-D6E1F3AEA8B5}"/>
              </a:ext>
            </a:extLst>
          </p:cNvPr>
          <p:cNvCxnSpPr>
            <a:cxnSpLocks/>
          </p:cNvCxnSpPr>
          <p:nvPr/>
        </p:nvCxnSpPr>
        <p:spPr>
          <a:xfrm flipH="1">
            <a:off x="4396306" y="1320525"/>
            <a:ext cx="1217536" cy="2022628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5CB3315-9DB0-981C-673F-ED2CF09B3D07}"/>
              </a:ext>
            </a:extLst>
          </p:cNvPr>
          <p:cNvCxnSpPr>
            <a:cxnSpLocks/>
          </p:cNvCxnSpPr>
          <p:nvPr/>
        </p:nvCxnSpPr>
        <p:spPr>
          <a:xfrm flipH="1">
            <a:off x="4492389" y="1389326"/>
            <a:ext cx="1217536" cy="2022628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F3F6B6A-7F54-BF31-0E13-C5513CEA36F8}"/>
              </a:ext>
            </a:extLst>
          </p:cNvPr>
          <p:cNvCxnSpPr>
            <a:cxnSpLocks/>
          </p:cNvCxnSpPr>
          <p:nvPr/>
        </p:nvCxnSpPr>
        <p:spPr>
          <a:xfrm flipH="1">
            <a:off x="4594786" y="1429046"/>
            <a:ext cx="1217536" cy="2022628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160DB45-EC09-42E2-D110-26512CB7D702}"/>
              </a:ext>
            </a:extLst>
          </p:cNvPr>
          <p:cNvCxnSpPr>
            <a:cxnSpLocks/>
          </p:cNvCxnSpPr>
          <p:nvPr/>
        </p:nvCxnSpPr>
        <p:spPr>
          <a:xfrm flipH="1">
            <a:off x="4693790" y="1462670"/>
            <a:ext cx="1217536" cy="2022628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7032E9D-1DC1-11EC-2572-90CA89047836}"/>
              </a:ext>
            </a:extLst>
          </p:cNvPr>
          <p:cNvCxnSpPr>
            <a:cxnSpLocks/>
          </p:cNvCxnSpPr>
          <p:nvPr/>
        </p:nvCxnSpPr>
        <p:spPr>
          <a:xfrm flipH="1">
            <a:off x="4789873" y="1531471"/>
            <a:ext cx="1217536" cy="2022628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3B82FB9-014B-11DF-CD5F-A3D5979C33A1}"/>
              </a:ext>
            </a:extLst>
          </p:cNvPr>
          <p:cNvCxnSpPr>
            <a:cxnSpLocks/>
          </p:cNvCxnSpPr>
          <p:nvPr/>
        </p:nvCxnSpPr>
        <p:spPr>
          <a:xfrm flipH="1">
            <a:off x="4892270" y="1571191"/>
            <a:ext cx="1217536" cy="2022628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1A73293-A48C-2EF2-BFEE-124C94E251AD}"/>
              </a:ext>
            </a:extLst>
          </p:cNvPr>
          <p:cNvCxnSpPr>
            <a:cxnSpLocks/>
          </p:cNvCxnSpPr>
          <p:nvPr/>
        </p:nvCxnSpPr>
        <p:spPr>
          <a:xfrm flipH="1">
            <a:off x="4987984" y="1637877"/>
            <a:ext cx="1217536" cy="2022628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CD62A35-6F35-DA59-CE8B-FD9AE9E305ED}"/>
              </a:ext>
            </a:extLst>
          </p:cNvPr>
          <p:cNvCxnSpPr>
            <a:cxnSpLocks/>
          </p:cNvCxnSpPr>
          <p:nvPr/>
        </p:nvCxnSpPr>
        <p:spPr>
          <a:xfrm flipH="1">
            <a:off x="5084067" y="1706678"/>
            <a:ext cx="1217536" cy="2022628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DDBB2DD-DA01-6736-8AE8-3DFB5F33DB60}"/>
              </a:ext>
            </a:extLst>
          </p:cNvPr>
          <p:cNvCxnSpPr>
            <a:cxnSpLocks/>
          </p:cNvCxnSpPr>
          <p:nvPr/>
        </p:nvCxnSpPr>
        <p:spPr>
          <a:xfrm flipH="1">
            <a:off x="5186464" y="1746398"/>
            <a:ext cx="1217536" cy="2022628"/>
          </a:xfrm>
          <a:prstGeom prst="line">
            <a:avLst/>
          </a:prstGeom>
          <a:ln w="95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BA278CE-4831-02B5-EB2B-32C37D7432AB}"/>
              </a:ext>
            </a:extLst>
          </p:cNvPr>
          <p:cNvCxnSpPr>
            <a:cxnSpLocks/>
          </p:cNvCxnSpPr>
          <p:nvPr/>
        </p:nvCxnSpPr>
        <p:spPr>
          <a:xfrm flipH="1">
            <a:off x="5686370" y="1880651"/>
            <a:ext cx="1224515" cy="1977034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BC3DF72-C9E3-349E-A4B3-9400AC3B7558}"/>
              </a:ext>
            </a:extLst>
          </p:cNvPr>
          <p:cNvCxnSpPr>
            <a:cxnSpLocks/>
          </p:cNvCxnSpPr>
          <p:nvPr/>
        </p:nvCxnSpPr>
        <p:spPr>
          <a:xfrm flipH="1">
            <a:off x="5913442" y="1875899"/>
            <a:ext cx="1224515" cy="1977034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64B584F-3B5B-10B9-EDF3-64FE6302EC6B}"/>
              </a:ext>
            </a:extLst>
          </p:cNvPr>
          <p:cNvCxnSpPr>
            <a:cxnSpLocks/>
          </p:cNvCxnSpPr>
          <p:nvPr/>
        </p:nvCxnSpPr>
        <p:spPr>
          <a:xfrm flipH="1">
            <a:off x="6113441" y="1866673"/>
            <a:ext cx="1224515" cy="1977034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FE52E8C-B046-A368-AFE6-98022633832E}"/>
              </a:ext>
            </a:extLst>
          </p:cNvPr>
          <p:cNvCxnSpPr>
            <a:cxnSpLocks/>
          </p:cNvCxnSpPr>
          <p:nvPr/>
        </p:nvCxnSpPr>
        <p:spPr>
          <a:xfrm flipH="1">
            <a:off x="6342012" y="1875899"/>
            <a:ext cx="1224515" cy="1977034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A528E8E-FC53-4F9A-A63A-31809C795D11}"/>
              </a:ext>
            </a:extLst>
          </p:cNvPr>
          <p:cNvCxnSpPr>
            <a:cxnSpLocks/>
          </p:cNvCxnSpPr>
          <p:nvPr/>
        </p:nvCxnSpPr>
        <p:spPr>
          <a:xfrm flipH="1">
            <a:off x="6542011" y="1866673"/>
            <a:ext cx="1224515" cy="1977034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61909DA-0659-CD61-183E-B964FB922165}"/>
              </a:ext>
            </a:extLst>
          </p:cNvPr>
          <p:cNvCxnSpPr>
            <a:cxnSpLocks/>
          </p:cNvCxnSpPr>
          <p:nvPr/>
        </p:nvCxnSpPr>
        <p:spPr>
          <a:xfrm flipH="1">
            <a:off x="6426996" y="1889873"/>
            <a:ext cx="283890" cy="4532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C87DF84-80E3-8B5D-95A8-C6160B60AD9E}"/>
              </a:ext>
            </a:extLst>
          </p:cNvPr>
          <p:cNvCxnSpPr>
            <a:cxnSpLocks/>
          </p:cNvCxnSpPr>
          <p:nvPr/>
        </p:nvCxnSpPr>
        <p:spPr>
          <a:xfrm flipH="1">
            <a:off x="6218656" y="2347913"/>
            <a:ext cx="22767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CEC150F-5950-7938-87BB-483E4205FA4F}"/>
              </a:ext>
            </a:extLst>
          </p:cNvPr>
          <p:cNvCxnSpPr>
            <a:cxnSpLocks/>
          </p:cNvCxnSpPr>
          <p:nvPr/>
        </p:nvCxnSpPr>
        <p:spPr>
          <a:xfrm>
            <a:off x="6122942" y="2184977"/>
            <a:ext cx="106896" cy="15818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A9BC2C1-7AB3-373D-81CE-980D04E15F24}"/>
              </a:ext>
            </a:extLst>
          </p:cNvPr>
          <p:cNvCxnSpPr>
            <a:cxnSpLocks/>
          </p:cNvCxnSpPr>
          <p:nvPr/>
        </p:nvCxnSpPr>
        <p:spPr>
          <a:xfrm>
            <a:off x="5968806" y="2443215"/>
            <a:ext cx="111131" cy="1453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1EAA517-752F-D199-8C8B-782F23AEB10E}"/>
              </a:ext>
            </a:extLst>
          </p:cNvPr>
          <p:cNvCxnSpPr>
            <a:cxnSpLocks/>
          </p:cNvCxnSpPr>
          <p:nvPr/>
        </p:nvCxnSpPr>
        <p:spPr>
          <a:xfrm flipH="1">
            <a:off x="6061464" y="2581275"/>
            <a:ext cx="22767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9979D57-0140-4F0C-0863-8E77613ADA3E}"/>
              </a:ext>
            </a:extLst>
          </p:cNvPr>
          <p:cNvCxnSpPr>
            <a:cxnSpLocks/>
          </p:cNvCxnSpPr>
          <p:nvPr/>
        </p:nvCxnSpPr>
        <p:spPr>
          <a:xfrm flipH="1">
            <a:off x="5483012" y="2561846"/>
            <a:ext cx="806124" cy="132158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7E41474-1D4D-754A-625A-91141116DBA3}"/>
              </a:ext>
            </a:extLst>
          </p:cNvPr>
          <p:cNvCxnSpPr>
            <a:cxnSpLocks/>
          </p:cNvCxnSpPr>
          <p:nvPr/>
        </p:nvCxnSpPr>
        <p:spPr>
          <a:xfrm>
            <a:off x="2692413" y="2265153"/>
            <a:ext cx="304876" cy="20883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3E4D98B1-B6D7-D2D1-DDF4-BBC093617A6E}"/>
              </a:ext>
            </a:extLst>
          </p:cNvPr>
          <p:cNvCxnSpPr>
            <a:cxnSpLocks/>
          </p:cNvCxnSpPr>
          <p:nvPr/>
        </p:nvCxnSpPr>
        <p:spPr>
          <a:xfrm flipV="1">
            <a:off x="2702953" y="1962150"/>
            <a:ext cx="200589" cy="30300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0DAB064-6125-C0BD-A73B-E81C584CB98B}"/>
              </a:ext>
            </a:extLst>
          </p:cNvPr>
          <p:cNvCxnSpPr>
            <a:cxnSpLocks/>
          </p:cNvCxnSpPr>
          <p:nvPr/>
        </p:nvCxnSpPr>
        <p:spPr>
          <a:xfrm flipV="1">
            <a:off x="2709291" y="2113496"/>
            <a:ext cx="473800" cy="16088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98171AC-C6E2-7EE2-A139-9F873370B1B7}"/>
                  </a:ext>
                </a:extLst>
              </p:cNvPr>
              <p:cNvSpPr txBox="1"/>
              <p:nvPr/>
            </p:nvSpPr>
            <p:spPr>
              <a:xfrm>
                <a:off x="2399072" y="2440878"/>
                <a:ext cx="206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98171AC-C6E2-7EE2-A139-9F873370B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072" y="2440878"/>
                <a:ext cx="206788" cy="276999"/>
              </a:xfrm>
              <a:prstGeom prst="rect">
                <a:avLst/>
              </a:prstGeom>
              <a:blipFill>
                <a:blip r:embed="rId5"/>
                <a:stretch>
                  <a:fillRect l="-45455" t="-2174" r="-45455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9511E899-B8C2-6441-024A-C039D8A1E266}"/>
                  </a:ext>
                </a:extLst>
              </p:cNvPr>
              <p:cNvSpPr txBox="1"/>
              <p:nvPr/>
            </p:nvSpPr>
            <p:spPr>
              <a:xfrm>
                <a:off x="2951274" y="1804693"/>
                <a:ext cx="206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9511E899-B8C2-6441-024A-C039D8A1E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274" y="1804693"/>
                <a:ext cx="206788" cy="276999"/>
              </a:xfrm>
              <a:prstGeom prst="rect">
                <a:avLst/>
              </a:prstGeom>
              <a:blipFill>
                <a:blip r:embed="rId6"/>
                <a:stretch>
                  <a:fillRect l="-41176" t="-2222" r="-44118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F76C018-C831-DA82-4203-D9B05EB34BEE}"/>
                  </a:ext>
                </a:extLst>
              </p:cNvPr>
              <p:cNvSpPr txBox="1"/>
              <p:nvPr/>
            </p:nvSpPr>
            <p:spPr>
              <a:xfrm>
                <a:off x="2157021" y="1861304"/>
                <a:ext cx="206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F76C018-C831-DA82-4203-D9B05EB34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021" y="1861304"/>
                <a:ext cx="206788" cy="276999"/>
              </a:xfrm>
              <a:prstGeom prst="rect">
                <a:avLst/>
              </a:prstGeom>
              <a:blipFill>
                <a:blip r:embed="rId7"/>
                <a:stretch>
                  <a:fillRect l="-44118" t="-2174" r="-41176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1FBA31F-D829-08B8-273A-58A8EEB20613}"/>
              </a:ext>
            </a:extLst>
          </p:cNvPr>
          <p:cNvCxnSpPr>
            <a:cxnSpLocks/>
          </p:cNvCxnSpPr>
          <p:nvPr/>
        </p:nvCxnSpPr>
        <p:spPr>
          <a:xfrm flipV="1">
            <a:off x="5970284" y="2181551"/>
            <a:ext cx="180293" cy="29952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664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205</Words>
  <Application>Microsoft Office PowerPoint</Application>
  <PresentationFormat>Widescreen</PresentationFormat>
  <Paragraphs>40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Liam Andrew Myhill</dc:creator>
  <cp:lastModifiedBy>Liam Andrew Myhill</cp:lastModifiedBy>
  <cp:revision>3</cp:revision>
  <dcterms:created xsi:type="dcterms:W3CDTF">2026-01-07T16:14:22Z</dcterms:created>
  <dcterms:modified xsi:type="dcterms:W3CDTF">2026-01-07T23:40:21Z</dcterms:modified>
</cp:coreProperties>
</file>